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embeddedFontLst>
    <p:embeddedFont>
      <p:font typeface="Parkinsans Bold" panose="020B0604020202020204" charset="0"/>
      <p:regular r:id="rId11"/>
    </p:embeddedFont>
    <p:embeddedFont>
      <p:font typeface="Reddit Mono Medium" panose="020B0604020202020204" charset="0"/>
      <p:regular r:id="rId12"/>
    </p:embeddedFont>
    <p:embeddedFont>
      <p:font typeface="Reddit Sans" panose="020B0604020202020204" charset="0"/>
      <p:regular r:id="rId13"/>
    </p:embeddedFont>
    <p:embeddedFont>
      <p:font typeface="Reddit Sans Bold" panose="020B0604020202020204" charset="0"/>
      <p:regular r:id="rId14"/>
    </p:embeddedFont>
    <p:embeddedFont>
      <p:font typeface="Reddit Sans Medium" panose="020B0604020202020204" charset="0"/>
      <p:regular r:id="rId15"/>
    </p:embeddedFont>
    <p:embeddedFont>
      <p:font typeface="Reddit Sans SemiBold"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7809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deck as a systems view of a DBMS. We will move from what users see, through query processing, to the storage and reliability services underneath.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basic boundary. Applications do not usually manage files, permissions, or concurrent access themselves. The DBMS sits between the request and the stored data, providing the control layer.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stack from top to bottom. External schemas serve particular users or applications. The conceptual schema describes the whole logical database. The internal schema describes how that information is physically stored and accessed.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independence is a protection boundary. Physical changes stay below the logical schema. Logical changes can be absorbed before they reach every external view. The application interface therefore changes less often than the database beneath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query from left to right. The DBMS first understands the request, then chooses a strategy, performs the operations, and returns the result. The stages are distinct, but they work as one pipeline.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intent from execution. The parser asks whether the request makes sense. The optimizer chooses among valid strategies. The executor carries out that choice. Together they turn a declarative request into concrete work.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storage manager is more than a file cabinet. It organizes files, pages, records, and indexes, moves data between disk and memory through the buffer manager, and coordinates transactions, concurrency, recovery, authorization, and consistency.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reconnecting the layers. Schemas protect applications from detail. Query processing turns intent into efficient work. Storage and transaction services make that work dependable. The architecture is powerful because all three roles operate together.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7315017" cy="6858000"/>
          </a:xfrm>
          <a:prstGeom prst="rect">
            <a:avLst/>
          </a:prstGeom>
          <a:solidFill>
            <a:srgbClr val="1F4FE0"/>
          </a:solidFill>
          <a:ln/>
        </p:spPr>
      </p:sp>
      <p:sp>
        <p:nvSpPr>
          <p:cNvPr id="3" name="Shape 1"/>
          <p:cNvSpPr/>
          <p:nvPr/>
        </p:nvSpPr>
        <p:spPr>
          <a:xfrm>
            <a:off x="711182" y="711200"/>
            <a:ext cx="1985119" cy="254000"/>
          </a:xfrm>
          <a:prstGeom prst="roundRect">
            <a:avLst>
              <a:gd name="adj" fmla="val 49999"/>
            </a:avLst>
          </a:prstGeom>
          <a:solidFill>
            <a:srgbClr val="D2DCF9"/>
          </a:solidFill>
          <a:ln/>
        </p:spPr>
      </p:sp>
      <p:sp>
        <p:nvSpPr>
          <p:cNvPr id="4" name="Text 2"/>
          <p:cNvSpPr/>
          <p:nvPr/>
        </p:nvSpPr>
        <p:spPr>
          <a:xfrm>
            <a:off x="838179" y="771525"/>
            <a:ext cx="2340710" cy="165100"/>
          </a:xfrm>
          <a:prstGeom prst="rect">
            <a:avLst/>
          </a:prstGeom>
          <a:noFill/>
          <a:ln/>
        </p:spPr>
        <p:txBody>
          <a:bodyPr wrap="none" lIns="0" tIns="0" rIns="0" bIns="0" rtlCol="0" anchor="t"/>
          <a:lstStyle/>
          <a:p>
            <a:pPr marL="0" indent="0" algn="l">
              <a:lnSpc>
                <a:spcPct val="83000"/>
              </a:lnSpc>
              <a:buNone/>
            </a:pPr>
            <a:r>
              <a:rPr lang="en-US" sz="1300" kern="100" spc="26" dirty="0">
                <a:solidFill>
                  <a:srgbClr val="101A3A"/>
                </a:solidFill>
                <a:latin typeface="Reddit Mono Medium" pitchFamily="34" charset="0"/>
                <a:ea typeface="Reddit Mono Medium" pitchFamily="34" charset="-122"/>
                <a:cs typeface="Reddit Mono Medium" pitchFamily="34" charset="-120"/>
              </a:rPr>
              <a:t>DBMS · FOUNDATIONS</a:t>
            </a:r>
            <a:endParaRPr lang="en-US" sz="1300" dirty="0"/>
          </a:p>
        </p:txBody>
      </p:sp>
      <p:sp>
        <p:nvSpPr>
          <p:cNvPr id="5" name="Text 3"/>
          <p:cNvSpPr/>
          <p:nvPr/>
        </p:nvSpPr>
        <p:spPr>
          <a:xfrm>
            <a:off x="711182" y="1360468"/>
            <a:ext cx="6070448" cy="3128963"/>
          </a:xfrm>
          <a:prstGeom prst="rect">
            <a:avLst/>
          </a:prstGeom>
          <a:noFill/>
          <a:ln/>
        </p:spPr>
        <p:txBody>
          <a:bodyPr wrap="square" lIns="0" tIns="0" rIns="0" bIns="0" rtlCol="0" anchor="t">
            <a:normAutofit/>
          </a:bodyPr>
          <a:lstStyle/>
          <a:p>
            <a:pPr marL="0" indent="0" algn="l">
              <a:lnSpc>
                <a:spcPct val="92000"/>
              </a:lnSpc>
              <a:buNone/>
            </a:pPr>
            <a:r>
              <a:rPr lang="en-US" sz="5600" b="1" kern="100" spc="-112" dirty="0">
                <a:solidFill>
                  <a:srgbClr val="FFFFFF"/>
                </a:solidFill>
                <a:latin typeface="Parkinsans Bold" pitchFamily="34" charset="0"/>
                <a:ea typeface="Parkinsans Bold" pitchFamily="34" charset="-122"/>
                <a:cs typeface="Parkinsans Bold" pitchFamily="34" charset="-120"/>
              </a:rPr>
              <a:t>Architecture of a Database Management System</a:t>
            </a:r>
            <a:endParaRPr lang="en-US" sz="5600" dirty="0"/>
          </a:p>
        </p:txBody>
      </p:sp>
      <p:sp>
        <p:nvSpPr>
          <p:cNvPr id="6" name="Text 4"/>
          <p:cNvSpPr/>
          <p:nvPr/>
        </p:nvSpPr>
        <p:spPr>
          <a:xfrm>
            <a:off x="711182" y="4646593"/>
            <a:ext cx="6070448" cy="675481"/>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FFFFFF"/>
                </a:solidFill>
                <a:latin typeface="Reddit Sans" pitchFamily="34" charset="0"/>
                <a:ea typeface="Reddit Sans" pitchFamily="34" charset="-122"/>
                <a:cs typeface="Reddit Sans" pitchFamily="34" charset="-120"/>
              </a:rPr>
              <a:t>How applications reach reliable data through layers of abstraction, processing, and storage.</a:t>
            </a:r>
            <a:endParaRPr lang="en-US" sz="1900" dirty="0"/>
          </a:p>
        </p:txBody>
      </p:sp>
      <p:sp>
        <p:nvSpPr>
          <p:cNvPr id="7" name="Shape 5"/>
          <p:cNvSpPr/>
          <p:nvPr/>
        </p:nvSpPr>
        <p:spPr>
          <a:xfrm>
            <a:off x="711182" y="6096099"/>
            <a:ext cx="6070448" cy="101600"/>
          </a:xfrm>
          <a:prstGeom prst="rect">
            <a:avLst/>
          </a:prstGeom>
          <a:solidFill>
            <a:srgbClr val="FF8420"/>
          </a:solidFill>
          <a:ln/>
        </p:spPr>
      </p:sp>
      <p:sp>
        <p:nvSpPr>
          <p:cNvPr id="8" name="Text 6"/>
          <p:cNvSpPr/>
          <p:nvPr/>
        </p:nvSpPr>
        <p:spPr>
          <a:xfrm>
            <a:off x="711182" y="5664319"/>
            <a:ext cx="6070448" cy="284460"/>
          </a:xfrm>
          <a:prstGeom prst="rect">
            <a:avLst/>
          </a:prstGeom>
          <a:noFill/>
          <a:ln/>
        </p:spPr>
        <p:txBody>
          <a:bodyPr wrap="none" lIns="0" tIns="0" rIns="0" bIns="0" rtlCol="0" anchor="t"/>
          <a:lstStyle/>
          <a:p>
            <a:pPr marL="0" indent="0" algn="l">
              <a:lnSpc>
                <a:spcPct val="117000"/>
              </a:lnSpc>
              <a:buNone/>
            </a:pPr>
            <a:r>
              <a:rPr lang="en-US" sz="1600" dirty="0">
                <a:solidFill>
                  <a:srgbClr val="FFFFFF"/>
                </a:solidFill>
                <a:latin typeface="Reddit Sans" pitchFamily="34" charset="0"/>
                <a:ea typeface="Reddit Sans" pitchFamily="34" charset="-122"/>
                <a:cs typeface="Reddit Sans" pitchFamily="34" charset="-120"/>
              </a:rPr>
              <a:t>First database course · systems view</a:t>
            </a:r>
            <a:endParaRPr lang="en-US" sz="1600" dirty="0"/>
          </a:p>
        </p:txBody>
      </p:sp>
      <p:pic>
        <p:nvPicPr>
          <p:cNvPr id="9" name="Image 0" descr="preencoded.png"/>
          <p:cNvPicPr>
            <a:picLocks noChangeAspect="1"/>
          </p:cNvPicPr>
          <p:nvPr/>
        </p:nvPicPr>
        <p:blipFill>
          <a:blip r:embed="rId3"/>
          <a:stretch>
            <a:fillRect/>
          </a:stretch>
        </p:blipFill>
        <p:spPr>
          <a:xfrm>
            <a:off x="7315017" y="1333500"/>
            <a:ext cx="4190895" cy="4191000"/>
          </a:xfrm>
          <a:prstGeom prst="rect">
            <a:avLst/>
          </a:prstGeom>
        </p:spPr>
      </p:pic>
      <p:pic>
        <p:nvPicPr>
          <p:cNvPr id="11" name="Picture 10">
            <a:extLst>
              <a:ext uri="{FF2B5EF4-FFF2-40B4-BE49-F238E27FC236}">
                <a16:creationId xmlns:a16="http://schemas.microsoft.com/office/drawing/2014/main" id="{50AFD47D-EC01-A492-1E92-6B991A811E98}"/>
              </a:ext>
            </a:extLst>
          </p:cNvPr>
          <p:cNvPicPr>
            <a:picLocks noChangeAspect="1"/>
          </p:cNvPicPr>
          <p:nvPr/>
        </p:nvPicPr>
        <p:blipFill>
          <a:blip r:embed="rId4"/>
          <a:stretch>
            <a:fillRect/>
          </a:stretch>
        </p:blipFill>
        <p:spPr>
          <a:xfrm>
            <a:off x="10718724" y="6473817"/>
            <a:ext cx="1473276" cy="31116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40080"/>
            <a:ext cx="10972526" cy="411460"/>
          </a:xfrm>
          <a:prstGeom prst="rect">
            <a:avLst/>
          </a:prstGeom>
          <a:noFill/>
          <a:ln/>
        </p:spPr>
        <p:txBody>
          <a:bodyPr wrap="none" lIns="0" tIns="0" rIns="0" bIns="0" rtlCol="0" anchor="t"/>
          <a:lstStyle/>
          <a:p>
            <a:pPr marL="0" indent="0" algn="l">
              <a:lnSpc>
                <a:spcPct val="90000"/>
              </a:lnSpc>
              <a:buNone/>
            </a:pPr>
            <a:r>
              <a:rPr lang="en-US" sz="3000" b="1" kern="100" spc="-45" dirty="0">
                <a:solidFill>
                  <a:srgbClr val="101A3A"/>
                </a:solidFill>
                <a:latin typeface="Parkinsans Bold" pitchFamily="34" charset="0"/>
                <a:ea typeface="Parkinsans Bold" pitchFamily="34" charset="-122"/>
                <a:cs typeface="Parkinsans Bold" pitchFamily="34" charset="-120"/>
              </a:rPr>
              <a:t>A DBMS is the layer between applications and data</a:t>
            </a:r>
            <a:endParaRPr lang="en-US" sz="3000" dirty="0"/>
          </a:p>
        </p:txBody>
      </p:sp>
      <p:sp>
        <p:nvSpPr>
          <p:cNvPr id="3" name="Text 1"/>
          <p:cNvSpPr/>
          <p:nvPr/>
        </p:nvSpPr>
        <p:spPr>
          <a:xfrm>
            <a:off x="609585" y="1229340"/>
            <a:ext cx="11582110" cy="284460"/>
          </a:xfrm>
          <a:prstGeom prst="rect">
            <a:avLst/>
          </a:prstGeom>
          <a:noFill/>
          <a:ln/>
        </p:spPr>
        <p:txBody>
          <a:bodyPr wrap="none" lIns="0" tIns="0" rIns="0" bIns="0" rtlCol="0" anchor="t"/>
          <a:lstStyle/>
          <a:p>
            <a:pPr marL="0" indent="0" algn="l">
              <a:lnSpc>
                <a:spcPct val="117000"/>
              </a:lnSpc>
              <a:buNone/>
            </a:pPr>
            <a:r>
              <a:rPr lang="en-US" sz="1600" dirty="0">
                <a:solidFill>
                  <a:srgbClr val="101A3A"/>
                </a:solidFill>
                <a:latin typeface="Reddit Sans" pitchFamily="34" charset="0"/>
                <a:ea typeface="Reddit Sans" pitchFamily="34" charset="-122"/>
                <a:cs typeface="Reddit Sans" pitchFamily="34" charset="-120"/>
              </a:rPr>
              <a:t>It translates requests into controlled access to organized, shared information.</a:t>
            </a:r>
            <a:endParaRPr lang="en-US" sz="1600" dirty="0"/>
          </a:p>
        </p:txBody>
      </p:sp>
      <p:sp>
        <p:nvSpPr>
          <p:cNvPr id="4" name="Shape 2"/>
          <p:cNvSpPr/>
          <p:nvPr/>
        </p:nvSpPr>
        <p:spPr>
          <a:xfrm>
            <a:off x="609585" y="1692870"/>
            <a:ext cx="3454314" cy="2177951"/>
          </a:xfrm>
          <a:prstGeom prst="rect">
            <a:avLst/>
          </a:prstGeom>
          <a:solidFill>
            <a:srgbClr val="EAF0FF"/>
          </a:solidFill>
          <a:ln/>
        </p:spPr>
      </p:sp>
      <p:pic>
        <p:nvPicPr>
          <p:cNvPr id="5" name="Image 0" descr="preencoded.png"/>
          <p:cNvPicPr>
            <a:picLocks noChangeAspect="1"/>
          </p:cNvPicPr>
          <p:nvPr/>
        </p:nvPicPr>
        <p:blipFill>
          <a:blip r:embed="rId3"/>
          <a:stretch>
            <a:fillRect/>
          </a:stretch>
        </p:blipFill>
        <p:spPr>
          <a:xfrm>
            <a:off x="838179" y="1921470"/>
            <a:ext cx="507987" cy="508000"/>
          </a:xfrm>
          <a:prstGeom prst="rect">
            <a:avLst/>
          </a:prstGeom>
        </p:spPr>
      </p:pic>
      <p:sp>
        <p:nvSpPr>
          <p:cNvPr id="6" name="Text 3"/>
          <p:cNvSpPr/>
          <p:nvPr/>
        </p:nvSpPr>
        <p:spPr>
          <a:xfrm>
            <a:off x="838179" y="2625685"/>
            <a:ext cx="2997125" cy="313630"/>
          </a:xfrm>
          <a:prstGeom prst="rect">
            <a:avLst/>
          </a:prstGeom>
          <a:noFill/>
          <a:ln/>
        </p:spPr>
        <p:txBody>
          <a:bodyPr wrap="none" lIns="0" tIns="0" rIns="0" bIns="0" rtlCol="0" anchor="t"/>
          <a:lstStyle/>
          <a:p>
            <a:pPr marL="0" indent="0" algn="l">
              <a:lnSpc>
                <a:spcPct val="108000"/>
              </a:lnSpc>
              <a:buNone/>
            </a:pPr>
            <a:r>
              <a:rPr lang="en-US" sz="1900" dirty="0">
                <a:solidFill>
                  <a:srgbClr val="000000"/>
                </a:solidFill>
                <a:latin typeface="Reddit Sans Medium" pitchFamily="34" charset="0"/>
                <a:ea typeface="Reddit Sans Medium" pitchFamily="34" charset="-122"/>
                <a:cs typeface="Reddit Sans Medium" pitchFamily="34" charset="-120"/>
              </a:rPr>
              <a:t>Applications and users</a:t>
            </a:r>
            <a:endParaRPr lang="en-US" sz="1900" dirty="0"/>
          </a:p>
        </p:txBody>
      </p:sp>
      <p:sp>
        <p:nvSpPr>
          <p:cNvPr id="7" name="Text 4"/>
          <p:cNvSpPr/>
          <p:nvPr/>
        </p:nvSpPr>
        <p:spPr>
          <a:xfrm>
            <a:off x="838179" y="3078381"/>
            <a:ext cx="2997125"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Reddit Sans" pitchFamily="34" charset="0"/>
                <a:ea typeface="Reddit Sans" pitchFamily="34" charset="-122"/>
                <a:cs typeface="Reddit Sans" pitchFamily="34" charset="-120"/>
              </a:rPr>
              <a:t>Applications and users send requests.</a:t>
            </a:r>
            <a:endParaRPr lang="en-US" sz="1600" dirty="0"/>
          </a:p>
        </p:txBody>
      </p:sp>
      <p:sp>
        <p:nvSpPr>
          <p:cNvPr id="8" name="Shape 5"/>
          <p:cNvSpPr/>
          <p:nvPr/>
        </p:nvSpPr>
        <p:spPr>
          <a:xfrm>
            <a:off x="4368691" y="1692870"/>
            <a:ext cx="3454314" cy="2177951"/>
          </a:xfrm>
          <a:prstGeom prst="rect">
            <a:avLst/>
          </a:prstGeom>
          <a:solidFill>
            <a:srgbClr val="EAF0FF"/>
          </a:solidFill>
          <a:ln/>
        </p:spPr>
      </p:sp>
      <p:pic>
        <p:nvPicPr>
          <p:cNvPr id="9" name="Image 1" descr="preencoded.png"/>
          <p:cNvPicPr>
            <a:picLocks noChangeAspect="1"/>
          </p:cNvPicPr>
          <p:nvPr/>
        </p:nvPicPr>
        <p:blipFill>
          <a:blip r:embed="rId4"/>
          <a:stretch>
            <a:fillRect/>
          </a:stretch>
        </p:blipFill>
        <p:spPr>
          <a:xfrm>
            <a:off x="4597285" y="1921470"/>
            <a:ext cx="507987" cy="508000"/>
          </a:xfrm>
          <a:prstGeom prst="rect">
            <a:avLst/>
          </a:prstGeom>
        </p:spPr>
      </p:pic>
      <p:sp>
        <p:nvSpPr>
          <p:cNvPr id="10" name="Text 6"/>
          <p:cNvSpPr/>
          <p:nvPr/>
        </p:nvSpPr>
        <p:spPr>
          <a:xfrm>
            <a:off x="4597285" y="2625685"/>
            <a:ext cx="2997125" cy="313630"/>
          </a:xfrm>
          <a:prstGeom prst="rect">
            <a:avLst/>
          </a:prstGeom>
          <a:noFill/>
          <a:ln/>
        </p:spPr>
        <p:txBody>
          <a:bodyPr wrap="none" lIns="0" tIns="0" rIns="0" bIns="0" rtlCol="0" anchor="t"/>
          <a:lstStyle/>
          <a:p>
            <a:pPr marL="0" indent="0" algn="l">
              <a:lnSpc>
                <a:spcPct val="108000"/>
              </a:lnSpc>
              <a:buNone/>
            </a:pPr>
            <a:r>
              <a:rPr lang="en-US" sz="1900" dirty="0">
                <a:solidFill>
                  <a:srgbClr val="000000"/>
                </a:solidFill>
                <a:latin typeface="Reddit Sans Medium" pitchFamily="34" charset="0"/>
                <a:ea typeface="Reddit Sans Medium" pitchFamily="34" charset="-122"/>
                <a:cs typeface="Reddit Sans Medium" pitchFamily="34" charset="-120"/>
              </a:rPr>
              <a:t>The DBMS</a:t>
            </a:r>
            <a:endParaRPr lang="en-US" sz="1900" dirty="0"/>
          </a:p>
        </p:txBody>
      </p:sp>
      <p:sp>
        <p:nvSpPr>
          <p:cNvPr id="11" name="Text 7"/>
          <p:cNvSpPr/>
          <p:nvPr/>
        </p:nvSpPr>
        <p:spPr>
          <a:xfrm>
            <a:off x="4597285" y="3078381"/>
            <a:ext cx="2997125"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Reddit Sans" pitchFamily="34" charset="0"/>
                <a:ea typeface="Reddit Sans" pitchFamily="34" charset="-122"/>
                <a:cs typeface="Reddit Sans" pitchFamily="34" charset="-120"/>
              </a:rPr>
              <a:t>The DBMS interprets, controls, and executes those requests.</a:t>
            </a:r>
            <a:endParaRPr lang="en-US" sz="1600" dirty="0"/>
          </a:p>
        </p:txBody>
      </p:sp>
      <p:sp>
        <p:nvSpPr>
          <p:cNvPr id="12" name="Shape 8"/>
          <p:cNvSpPr/>
          <p:nvPr/>
        </p:nvSpPr>
        <p:spPr>
          <a:xfrm>
            <a:off x="8127797" y="1692870"/>
            <a:ext cx="3454314" cy="2177951"/>
          </a:xfrm>
          <a:prstGeom prst="rect">
            <a:avLst/>
          </a:prstGeom>
          <a:solidFill>
            <a:srgbClr val="EAF0FF"/>
          </a:solidFill>
          <a:ln/>
        </p:spPr>
      </p:sp>
      <p:pic>
        <p:nvPicPr>
          <p:cNvPr id="13" name="Image 2" descr="preencoded.png"/>
          <p:cNvPicPr>
            <a:picLocks noChangeAspect="1"/>
          </p:cNvPicPr>
          <p:nvPr/>
        </p:nvPicPr>
        <p:blipFill>
          <a:blip r:embed="rId5"/>
          <a:stretch>
            <a:fillRect/>
          </a:stretch>
        </p:blipFill>
        <p:spPr>
          <a:xfrm>
            <a:off x="8356391" y="1921470"/>
            <a:ext cx="507987" cy="508000"/>
          </a:xfrm>
          <a:prstGeom prst="rect">
            <a:avLst/>
          </a:prstGeom>
        </p:spPr>
      </p:pic>
      <p:sp>
        <p:nvSpPr>
          <p:cNvPr id="14" name="Text 9"/>
          <p:cNvSpPr/>
          <p:nvPr/>
        </p:nvSpPr>
        <p:spPr>
          <a:xfrm>
            <a:off x="8356391" y="2625685"/>
            <a:ext cx="2997125" cy="313630"/>
          </a:xfrm>
          <a:prstGeom prst="rect">
            <a:avLst/>
          </a:prstGeom>
          <a:noFill/>
          <a:ln/>
        </p:spPr>
        <p:txBody>
          <a:bodyPr wrap="none" lIns="0" tIns="0" rIns="0" bIns="0" rtlCol="0" anchor="t"/>
          <a:lstStyle/>
          <a:p>
            <a:pPr marL="0" indent="0" algn="l">
              <a:lnSpc>
                <a:spcPct val="108000"/>
              </a:lnSpc>
              <a:buNone/>
            </a:pPr>
            <a:r>
              <a:rPr lang="en-US" sz="1900" dirty="0">
                <a:solidFill>
                  <a:srgbClr val="000000"/>
                </a:solidFill>
                <a:latin typeface="Reddit Sans Medium" pitchFamily="34" charset="0"/>
                <a:ea typeface="Reddit Sans Medium" pitchFamily="34" charset="-122"/>
                <a:cs typeface="Reddit Sans Medium" pitchFamily="34" charset="-120"/>
              </a:rPr>
              <a:t>Data</a:t>
            </a:r>
            <a:endParaRPr lang="en-US" sz="1900" dirty="0"/>
          </a:p>
        </p:txBody>
      </p:sp>
      <p:sp>
        <p:nvSpPr>
          <p:cNvPr id="15" name="Text 10"/>
          <p:cNvSpPr/>
          <p:nvPr/>
        </p:nvSpPr>
        <p:spPr>
          <a:xfrm>
            <a:off x="8356391" y="3078381"/>
            <a:ext cx="2997125"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Reddit Sans" pitchFamily="34" charset="0"/>
                <a:ea typeface="Reddit Sans" pitchFamily="34" charset="-122"/>
                <a:cs typeface="Reddit Sans" pitchFamily="34" charset="-120"/>
              </a:rPr>
              <a:t>Data stays organized, secure, and available to many users.</a:t>
            </a:r>
            <a:endParaRPr lang="en-US" sz="1600" dirty="0"/>
          </a:p>
        </p:txBody>
      </p:sp>
      <p:pic>
        <p:nvPicPr>
          <p:cNvPr id="17" name="Picture 16">
            <a:extLst>
              <a:ext uri="{FF2B5EF4-FFF2-40B4-BE49-F238E27FC236}">
                <a16:creationId xmlns:a16="http://schemas.microsoft.com/office/drawing/2014/main" id="{C14078ED-7715-502B-3EAC-9EB339BA1742}"/>
              </a:ext>
            </a:extLst>
          </p:cNvPr>
          <p:cNvPicPr>
            <a:picLocks noChangeAspect="1"/>
          </p:cNvPicPr>
          <p:nvPr/>
        </p:nvPicPr>
        <p:blipFill>
          <a:blip r:embed="rId6"/>
          <a:stretch>
            <a:fillRect/>
          </a:stretch>
        </p:blipFill>
        <p:spPr>
          <a:xfrm>
            <a:off x="10718724" y="6473817"/>
            <a:ext cx="1473276" cy="31116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40080"/>
            <a:ext cx="10972526" cy="822920"/>
          </a:xfrm>
          <a:prstGeom prst="rect">
            <a:avLst/>
          </a:prstGeom>
          <a:noFill/>
          <a:ln/>
        </p:spPr>
        <p:txBody>
          <a:bodyPr wrap="square" lIns="0" tIns="0" rIns="0" bIns="0" rtlCol="0" anchor="t">
            <a:normAutofit/>
          </a:bodyPr>
          <a:lstStyle/>
          <a:p>
            <a:pPr marL="0" indent="0" algn="l">
              <a:lnSpc>
                <a:spcPct val="90000"/>
              </a:lnSpc>
              <a:buNone/>
            </a:pPr>
            <a:r>
              <a:rPr lang="en-US" sz="3000" b="1" kern="100" spc="-45" dirty="0">
                <a:solidFill>
                  <a:srgbClr val="101A3A"/>
                </a:solidFill>
                <a:latin typeface="Parkinsans Bold" pitchFamily="34" charset="0"/>
                <a:ea typeface="Parkinsans Bold" pitchFamily="34" charset="-122"/>
                <a:cs typeface="Parkinsans Bold" pitchFamily="34" charset="-120"/>
              </a:rPr>
              <a:t>Three-schema architecture separates what users see from how data is stored</a:t>
            </a:r>
            <a:endParaRPr lang="en-US" sz="3000" dirty="0"/>
          </a:p>
        </p:txBody>
      </p:sp>
      <p:sp>
        <p:nvSpPr>
          <p:cNvPr id="3" name="Text 1"/>
          <p:cNvSpPr/>
          <p:nvPr/>
        </p:nvSpPr>
        <p:spPr>
          <a:xfrm>
            <a:off x="609585" y="1640800"/>
            <a:ext cx="11582110" cy="284460"/>
          </a:xfrm>
          <a:prstGeom prst="rect">
            <a:avLst/>
          </a:prstGeom>
          <a:noFill/>
          <a:ln/>
        </p:spPr>
        <p:txBody>
          <a:bodyPr wrap="none" lIns="0" tIns="0" rIns="0" bIns="0" rtlCol="0" anchor="t"/>
          <a:lstStyle/>
          <a:p>
            <a:pPr marL="0" indent="0" algn="l">
              <a:lnSpc>
                <a:spcPct val="117000"/>
              </a:lnSpc>
              <a:buNone/>
            </a:pPr>
            <a:r>
              <a:rPr lang="en-US" sz="1600" dirty="0">
                <a:solidFill>
                  <a:srgbClr val="101A3A"/>
                </a:solidFill>
                <a:latin typeface="Reddit Sans" pitchFamily="34" charset="0"/>
                <a:ea typeface="Reddit Sans" pitchFamily="34" charset="-122"/>
                <a:cs typeface="Reddit Sans" pitchFamily="34" charset="-120"/>
              </a:rPr>
              <a:t>The same database can present different views while keeping one underlying structure.</a:t>
            </a:r>
            <a:endParaRPr lang="en-US" sz="1600" dirty="0"/>
          </a:p>
        </p:txBody>
      </p:sp>
      <p:sp>
        <p:nvSpPr>
          <p:cNvPr id="4" name="Shape 2"/>
          <p:cNvSpPr/>
          <p:nvPr/>
        </p:nvSpPr>
        <p:spPr>
          <a:xfrm>
            <a:off x="609585" y="2104330"/>
            <a:ext cx="10972526" cy="1279723"/>
          </a:xfrm>
          <a:prstGeom prst="rect">
            <a:avLst/>
          </a:prstGeom>
          <a:solidFill>
            <a:srgbClr val="EAF0FF"/>
          </a:solidFill>
          <a:ln/>
        </p:spPr>
      </p:sp>
      <p:sp>
        <p:nvSpPr>
          <p:cNvPr id="5" name="Shape 3"/>
          <p:cNvSpPr/>
          <p:nvPr/>
        </p:nvSpPr>
        <p:spPr>
          <a:xfrm>
            <a:off x="888978" y="2365772"/>
            <a:ext cx="355591" cy="355600"/>
          </a:xfrm>
          <a:prstGeom prst="ellipse">
            <a:avLst/>
          </a:prstGeom>
          <a:solidFill>
            <a:srgbClr val="1F4FE0"/>
          </a:solidFill>
          <a:ln/>
        </p:spPr>
      </p:sp>
      <p:sp>
        <p:nvSpPr>
          <p:cNvPr id="6" name="Text 4"/>
          <p:cNvSpPr/>
          <p:nvPr/>
        </p:nvSpPr>
        <p:spPr>
          <a:xfrm>
            <a:off x="961505" y="2441972"/>
            <a:ext cx="820022" cy="203200"/>
          </a:xfrm>
          <a:prstGeom prst="rect">
            <a:avLst/>
          </a:prstGeom>
          <a:noFill/>
          <a:ln/>
        </p:spPr>
        <p:txBody>
          <a:bodyPr wrap="none" lIns="0" tIns="0" rIns="0" bIns="0" rtlCol="0" anchor="t"/>
          <a:lstStyle/>
          <a:p>
            <a:pPr marL="0" indent="0" algn="l">
              <a:lnSpc>
                <a:spcPct val="83000"/>
              </a:lnSpc>
              <a:buNone/>
            </a:pPr>
            <a:r>
              <a:rPr lang="en-US" sz="1600" dirty="0">
                <a:solidFill>
                  <a:srgbClr val="FFFFFF"/>
                </a:solidFill>
                <a:latin typeface="Reddit Sans SemiBold" pitchFamily="34" charset="0"/>
                <a:ea typeface="Reddit Sans SemiBold" pitchFamily="34" charset="-122"/>
                <a:cs typeface="Reddit Sans SemiBold" pitchFamily="34" charset="-120"/>
              </a:rPr>
              <a:t>01</a:t>
            </a:r>
            <a:endParaRPr lang="en-US" sz="1600" dirty="0"/>
          </a:p>
        </p:txBody>
      </p:sp>
      <p:sp>
        <p:nvSpPr>
          <p:cNvPr id="7" name="Text 5"/>
          <p:cNvSpPr/>
          <p:nvPr/>
        </p:nvSpPr>
        <p:spPr>
          <a:xfrm>
            <a:off x="1447764" y="2384187"/>
            <a:ext cx="9854953" cy="313630"/>
          </a:xfrm>
          <a:prstGeom prst="rect">
            <a:avLst/>
          </a:prstGeom>
          <a:noFill/>
          <a:ln/>
        </p:spPr>
        <p:txBody>
          <a:bodyPr wrap="none" lIns="0" tIns="0" rIns="0" bIns="0" rtlCol="0" anchor="t"/>
          <a:lstStyle/>
          <a:p>
            <a:pPr marL="0" indent="0" algn="l">
              <a:lnSpc>
                <a:spcPct val="108000"/>
              </a:lnSpc>
              <a:buNone/>
            </a:pPr>
            <a:r>
              <a:rPr lang="en-US" sz="1900" dirty="0">
                <a:solidFill>
                  <a:srgbClr val="000000"/>
                </a:solidFill>
                <a:latin typeface="Reddit Sans Medium" pitchFamily="34" charset="0"/>
                <a:ea typeface="Reddit Sans Medium" pitchFamily="34" charset="-122"/>
                <a:cs typeface="Reddit Sans Medium" pitchFamily="34" charset="-120"/>
              </a:rPr>
              <a:t>External level</a:t>
            </a:r>
            <a:endParaRPr lang="en-US" sz="1900" dirty="0"/>
          </a:p>
        </p:txBody>
      </p:sp>
      <p:sp>
        <p:nvSpPr>
          <p:cNvPr id="8" name="Text 6"/>
          <p:cNvSpPr/>
          <p:nvPr/>
        </p:nvSpPr>
        <p:spPr>
          <a:xfrm>
            <a:off x="1447764" y="2836882"/>
            <a:ext cx="10134346"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Reddit Sans" pitchFamily="34" charset="0"/>
                <a:ea typeface="Reddit Sans" pitchFamily="34" charset="-122"/>
                <a:cs typeface="Reddit Sans" pitchFamily="34" charset="-120"/>
              </a:rPr>
              <a:t>User-specific views of the database.</a:t>
            </a:r>
            <a:endParaRPr lang="en-US" sz="1600" dirty="0"/>
          </a:p>
        </p:txBody>
      </p:sp>
      <p:sp>
        <p:nvSpPr>
          <p:cNvPr id="9" name="Shape 7"/>
          <p:cNvSpPr/>
          <p:nvPr/>
        </p:nvSpPr>
        <p:spPr>
          <a:xfrm>
            <a:off x="609585" y="3536454"/>
            <a:ext cx="10972526" cy="1279723"/>
          </a:xfrm>
          <a:prstGeom prst="rect">
            <a:avLst/>
          </a:prstGeom>
          <a:solidFill>
            <a:srgbClr val="FFF1E5"/>
          </a:solidFill>
          <a:ln/>
        </p:spPr>
      </p:sp>
      <p:sp>
        <p:nvSpPr>
          <p:cNvPr id="10" name="Shape 8"/>
          <p:cNvSpPr/>
          <p:nvPr/>
        </p:nvSpPr>
        <p:spPr>
          <a:xfrm>
            <a:off x="888978" y="3797895"/>
            <a:ext cx="355591" cy="355600"/>
          </a:xfrm>
          <a:prstGeom prst="ellipse">
            <a:avLst/>
          </a:prstGeom>
          <a:solidFill>
            <a:srgbClr val="1F4FE0"/>
          </a:solidFill>
          <a:ln/>
        </p:spPr>
      </p:sp>
      <p:sp>
        <p:nvSpPr>
          <p:cNvPr id="11" name="Text 9"/>
          <p:cNvSpPr/>
          <p:nvPr/>
        </p:nvSpPr>
        <p:spPr>
          <a:xfrm>
            <a:off x="942257" y="3874095"/>
            <a:ext cx="858518" cy="203200"/>
          </a:xfrm>
          <a:prstGeom prst="rect">
            <a:avLst/>
          </a:prstGeom>
          <a:noFill/>
          <a:ln/>
        </p:spPr>
        <p:txBody>
          <a:bodyPr wrap="none" lIns="0" tIns="0" rIns="0" bIns="0" rtlCol="0" anchor="t"/>
          <a:lstStyle/>
          <a:p>
            <a:pPr marL="0" indent="0" algn="l">
              <a:lnSpc>
                <a:spcPct val="83000"/>
              </a:lnSpc>
              <a:buNone/>
            </a:pPr>
            <a:r>
              <a:rPr lang="en-US" sz="1600" dirty="0">
                <a:solidFill>
                  <a:srgbClr val="FFFFFF"/>
                </a:solidFill>
                <a:latin typeface="Reddit Sans SemiBold" pitchFamily="34" charset="0"/>
                <a:ea typeface="Reddit Sans SemiBold" pitchFamily="34" charset="-122"/>
                <a:cs typeface="Reddit Sans SemiBold" pitchFamily="34" charset="-120"/>
              </a:rPr>
              <a:t>02</a:t>
            </a:r>
            <a:endParaRPr lang="en-US" sz="1600" dirty="0"/>
          </a:p>
        </p:txBody>
      </p:sp>
      <p:sp>
        <p:nvSpPr>
          <p:cNvPr id="12" name="Text 10"/>
          <p:cNvSpPr/>
          <p:nvPr/>
        </p:nvSpPr>
        <p:spPr>
          <a:xfrm>
            <a:off x="1447764" y="3816310"/>
            <a:ext cx="9854953" cy="313630"/>
          </a:xfrm>
          <a:prstGeom prst="rect">
            <a:avLst/>
          </a:prstGeom>
          <a:noFill/>
          <a:ln/>
        </p:spPr>
        <p:txBody>
          <a:bodyPr wrap="none" lIns="0" tIns="0" rIns="0" bIns="0" rtlCol="0" anchor="t"/>
          <a:lstStyle/>
          <a:p>
            <a:pPr marL="0" indent="0" algn="l">
              <a:lnSpc>
                <a:spcPct val="108000"/>
              </a:lnSpc>
              <a:buNone/>
            </a:pPr>
            <a:r>
              <a:rPr lang="en-US" sz="1900" dirty="0">
                <a:solidFill>
                  <a:srgbClr val="000000"/>
                </a:solidFill>
                <a:latin typeface="Reddit Sans Medium" pitchFamily="34" charset="0"/>
                <a:ea typeface="Reddit Sans Medium" pitchFamily="34" charset="-122"/>
                <a:cs typeface="Reddit Sans Medium" pitchFamily="34" charset="-120"/>
              </a:rPr>
              <a:t>Conceptual level</a:t>
            </a:r>
            <a:endParaRPr lang="en-US" sz="1900" dirty="0"/>
          </a:p>
        </p:txBody>
      </p:sp>
      <p:sp>
        <p:nvSpPr>
          <p:cNvPr id="13" name="Text 11"/>
          <p:cNvSpPr/>
          <p:nvPr/>
        </p:nvSpPr>
        <p:spPr>
          <a:xfrm>
            <a:off x="1447764" y="4269006"/>
            <a:ext cx="10134346"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Reddit Sans" pitchFamily="34" charset="0"/>
                <a:ea typeface="Reddit Sans" pitchFamily="34" charset="-122"/>
                <a:cs typeface="Reddit Sans" pitchFamily="34" charset="-120"/>
              </a:rPr>
              <a:t>The logical structure of the complete database.</a:t>
            </a:r>
            <a:endParaRPr lang="en-US" sz="1600" dirty="0"/>
          </a:p>
        </p:txBody>
      </p:sp>
      <p:sp>
        <p:nvSpPr>
          <p:cNvPr id="14" name="Shape 12"/>
          <p:cNvSpPr/>
          <p:nvPr/>
        </p:nvSpPr>
        <p:spPr>
          <a:xfrm>
            <a:off x="609585" y="4968577"/>
            <a:ext cx="10972526" cy="1279823"/>
          </a:xfrm>
          <a:prstGeom prst="rect">
            <a:avLst/>
          </a:prstGeom>
          <a:solidFill>
            <a:srgbClr val="FDE9F2"/>
          </a:solidFill>
          <a:ln/>
        </p:spPr>
      </p:sp>
      <p:sp>
        <p:nvSpPr>
          <p:cNvPr id="15" name="Shape 13"/>
          <p:cNvSpPr/>
          <p:nvPr/>
        </p:nvSpPr>
        <p:spPr>
          <a:xfrm>
            <a:off x="888978" y="5230019"/>
            <a:ext cx="355591" cy="355600"/>
          </a:xfrm>
          <a:prstGeom prst="ellipse">
            <a:avLst/>
          </a:prstGeom>
          <a:solidFill>
            <a:srgbClr val="1F4FE0"/>
          </a:solidFill>
          <a:ln/>
        </p:spPr>
      </p:sp>
      <p:sp>
        <p:nvSpPr>
          <p:cNvPr id="16" name="Text 14"/>
          <p:cNvSpPr/>
          <p:nvPr/>
        </p:nvSpPr>
        <p:spPr>
          <a:xfrm>
            <a:off x="942555" y="5306219"/>
            <a:ext cx="857923" cy="203200"/>
          </a:xfrm>
          <a:prstGeom prst="rect">
            <a:avLst/>
          </a:prstGeom>
          <a:noFill/>
          <a:ln/>
        </p:spPr>
        <p:txBody>
          <a:bodyPr wrap="none" lIns="0" tIns="0" rIns="0" bIns="0" rtlCol="0" anchor="t"/>
          <a:lstStyle/>
          <a:p>
            <a:pPr marL="0" indent="0" algn="l">
              <a:lnSpc>
                <a:spcPct val="83000"/>
              </a:lnSpc>
              <a:buNone/>
            </a:pPr>
            <a:r>
              <a:rPr lang="en-US" sz="1600" dirty="0">
                <a:solidFill>
                  <a:srgbClr val="FFFFFF"/>
                </a:solidFill>
                <a:latin typeface="Reddit Sans SemiBold" pitchFamily="34" charset="0"/>
                <a:ea typeface="Reddit Sans SemiBold" pitchFamily="34" charset="-122"/>
                <a:cs typeface="Reddit Sans SemiBold" pitchFamily="34" charset="-120"/>
              </a:rPr>
              <a:t>03</a:t>
            </a:r>
            <a:endParaRPr lang="en-US" sz="1600" dirty="0"/>
          </a:p>
        </p:txBody>
      </p:sp>
      <p:sp>
        <p:nvSpPr>
          <p:cNvPr id="17" name="Text 15"/>
          <p:cNvSpPr/>
          <p:nvPr/>
        </p:nvSpPr>
        <p:spPr>
          <a:xfrm>
            <a:off x="1447764" y="5248434"/>
            <a:ext cx="9854953" cy="313630"/>
          </a:xfrm>
          <a:prstGeom prst="rect">
            <a:avLst/>
          </a:prstGeom>
          <a:noFill/>
          <a:ln/>
        </p:spPr>
        <p:txBody>
          <a:bodyPr wrap="none" lIns="0" tIns="0" rIns="0" bIns="0" rtlCol="0" anchor="t"/>
          <a:lstStyle/>
          <a:p>
            <a:pPr marL="0" indent="0" algn="l">
              <a:lnSpc>
                <a:spcPct val="108000"/>
              </a:lnSpc>
              <a:buNone/>
            </a:pPr>
            <a:r>
              <a:rPr lang="en-US" sz="1900" dirty="0">
                <a:solidFill>
                  <a:srgbClr val="000000"/>
                </a:solidFill>
                <a:latin typeface="Reddit Sans Medium" pitchFamily="34" charset="0"/>
                <a:ea typeface="Reddit Sans Medium" pitchFamily="34" charset="-122"/>
                <a:cs typeface="Reddit Sans Medium" pitchFamily="34" charset="-120"/>
              </a:rPr>
              <a:t>Internal level</a:t>
            </a:r>
            <a:endParaRPr lang="en-US" sz="1900" dirty="0"/>
          </a:p>
        </p:txBody>
      </p:sp>
      <p:sp>
        <p:nvSpPr>
          <p:cNvPr id="18" name="Text 16"/>
          <p:cNvSpPr/>
          <p:nvPr/>
        </p:nvSpPr>
        <p:spPr>
          <a:xfrm>
            <a:off x="1447764" y="5701129"/>
            <a:ext cx="10134346"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Reddit Sans" pitchFamily="34" charset="0"/>
                <a:ea typeface="Reddit Sans" pitchFamily="34" charset="-122"/>
                <a:cs typeface="Reddit Sans" pitchFamily="34" charset="-120"/>
              </a:rPr>
              <a:t>Physical storage structures and access paths.</a:t>
            </a:r>
            <a:endParaRPr lang="en-US" sz="1600" dirty="0"/>
          </a:p>
        </p:txBody>
      </p:sp>
      <p:pic>
        <p:nvPicPr>
          <p:cNvPr id="20" name="Picture 19">
            <a:extLst>
              <a:ext uri="{FF2B5EF4-FFF2-40B4-BE49-F238E27FC236}">
                <a16:creationId xmlns:a16="http://schemas.microsoft.com/office/drawing/2014/main" id="{BEB53F96-7678-6802-57B9-3D4C96F5D632}"/>
              </a:ext>
            </a:extLst>
          </p:cNvPr>
          <p:cNvPicPr>
            <a:picLocks noChangeAspect="1"/>
          </p:cNvPicPr>
          <p:nvPr/>
        </p:nvPicPr>
        <p:blipFill>
          <a:blip r:embed="rId3"/>
          <a:stretch>
            <a:fillRect/>
          </a:stretch>
        </p:blipFill>
        <p:spPr>
          <a:xfrm>
            <a:off x="10718724" y="6473817"/>
            <a:ext cx="1473276" cy="31116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40080"/>
            <a:ext cx="10972526" cy="822920"/>
          </a:xfrm>
          <a:prstGeom prst="rect">
            <a:avLst/>
          </a:prstGeom>
          <a:noFill/>
          <a:ln/>
        </p:spPr>
        <p:txBody>
          <a:bodyPr wrap="square" lIns="0" tIns="0" rIns="0" bIns="0" rtlCol="0" anchor="t">
            <a:normAutofit/>
          </a:bodyPr>
          <a:lstStyle/>
          <a:p>
            <a:pPr marL="0" indent="0" algn="l">
              <a:lnSpc>
                <a:spcPct val="90000"/>
              </a:lnSpc>
              <a:buNone/>
            </a:pPr>
            <a:r>
              <a:rPr lang="en-US" sz="3000" b="1" kern="100" spc="-45" dirty="0">
                <a:solidFill>
                  <a:srgbClr val="101A3A"/>
                </a:solidFill>
                <a:latin typeface="Parkinsans Bold" pitchFamily="34" charset="0"/>
                <a:ea typeface="Parkinsans Bold" pitchFamily="34" charset="-122"/>
                <a:cs typeface="Parkinsans Bold" pitchFamily="34" charset="-120"/>
              </a:rPr>
              <a:t>Data independence protects applications from database changes</a:t>
            </a:r>
            <a:endParaRPr lang="en-US" sz="3000" dirty="0"/>
          </a:p>
        </p:txBody>
      </p:sp>
      <p:sp>
        <p:nvSpPr>
          <p:cNvPr id="3" name="Text 1"/>
          <p:cNvSpPr/>
          <p:nvPr/>
        </p:nvSpPr>
        <p:spPr>
          <a:xfrm>
            <a:off x="609585" y="1640800"/>
            <a:ext cx="11582110" cy="284460"/>
          </a:xfrm>
          <a:prstGeom prst="rect">
            <a:avLst/>
          </a:prstGeom>
          <a:noFill/>
          <a:ln/>
        </p:spPr>
        <p:txBody>
          <a:bodyPr wrap="none" lIns="0" tIns="0" rIns="0" bIns="0" rtlCol="0" anchor="t"/>
          <a:lstStyle/>
          <a:p>
            <a:pPr marL="0" indent="0" algn="l">
              <a:lnSpc>
                <a:spcPct val="117000"/>
              </a:lnSpc>
              <a:buNone/>
            </a:pPr>
            <a:r>
              <a:rPr lang="en-US" sz="1600" dirty="0">
                <a:solidFill>
                  <a:srgbClr val="101A3A"/>
                </a:solidFill>
                <a:latin typeface="Reddit Sans" pitchFamily="34" charset="0"/>
                <a:ea typeface="Reddit Sans" pitchFamily="34" charset="-122"/>
                <a:cs typeface="Reddit Sans" pitchFamily="34" charset="-120"/>
              </a:rPr>
              <a:t>Mappings between levels absorb many implementation changes.</a:t>
            </a:r>
            <a:endParaRPr lang="en-US" sz="1600" dirty="0"/>
          </a:p>
        </p:txBody>
      </p:sp>
      <p:sp>
        <p:nvSpPr>
          <p:cNvPr id="4" name="Shape 2"/>
          <p:cNvSpPr/>
          <p:nvPr/>
        </p:nvSpPr>
        <p:spPr>
          <a:xfrm>
            <a:off x="609585" y="2104330"/>
            <a:ext cx="5257668" cy="4144070"/>
          </a:xfrm>
          <a:prstGeom prst="roundRect">
            <a:avLst>
              <a:gd name="adj" fmla="val 4413"/>
            </a:avLst>
          </a:prstGeom>
          <a:solidFill>
            <a:srgbClr val="D2DCF9"/>
          </a:solidFill>
          <a:ln/>
        </p:spPr>
      </p:sp>
      <p:sp>
        <p:nvSpPr>
          <p:cNvPr id="5" name="Shape 3"/>
          <p:cNvSpPr/>
          <p:nvPr/>
        </p:nvSpPr>
        <p:spPr>
          <a:xfrm>
            <a:off x="609585" y="2104330"/>
            <a:ext cx="5257668" cy="101600"/>
          </a:xfrm>
          <a:prstGeom prst="rect">
            <a:avLst/>
          </a:prstGeom>
          <a:solidFill>
            <a:srgbClr val="1F4FE0"/>
          </a:solidFill>
          <a:ln/>
        </p:spPr>
      </p:sp>
      <p:sp>
        <p:nvSpPr>
          <p:cNvPr id="6" name="Shape 4"/>
          <p:cNvSpPr/>
          <p:nvPr/>
        </p:nvSpPr>
        <p:spPr>
          <a:xfrm>
            <a:off x="914377" y="2485330"/>
            <a:ext cx="1023416" cy="254000"/>
          </a:xfrm>
          <a:prstGeom prst="roundRect">
            <a:avLst>
              <a:gd name="adj" fmla="val 49999"/>
            </a:avLst>
          </a:prstGeom>
          <a:solidFill>
            <a:srgbClr val="D2DCF9"/>
          </a:solidFill>
          <a:ln/>
        </p:spPr>
      </p:sp>
      <p:sp>
        <p:nvSpPr>
          <p:cNvPr id="7" name="Text 5"/>
          <p:cNvSpPr/>
          <p:nvPr/>
        </p:nvSpPr>
        <p:spPr>
          <a:xfrm>
            <a:off x="1041374" y="2545656"/>
            <a:ext cx="1379007" cy="165100"/>
          </a:xfrm>
          <a:prstGeom prst="rect">
            <a:avLst/>
          </a:prstGeom>
          <a:noFill/>
          <a:ln/>
        </p:spPr>
        <p:txBody>
          <a:bodyPr wrap="none" lIns="0" tIns="0" rIns="0" bIns="0" rtlCol="0" anchor="t"/>
          <a:lstStyle/>
          <a:p>
            <a:pPr marL="0" indent="0" algn="l">
              <a:lnSpc>
                <a:spcPct val="83000"/>
              </a:lnSpc>
              <a:buNone/>
            </a:pPr>
            <a:r>
              <a:rPr lang="en-US" sz="1300" kern="100" spc="26" dirty="0">
                <a:solidFill>
                  <a:srgbClr val="101A3A"/>
                </a:solidFill>
                <a:latin typeface="Reddit Mono Medium" pitchFamily="34" charset="0"/>
                <a:ea typeface="Reddit Mono Medium" pitchFamily="34" charset="-122"/>
                <a:cs typeface="Reddit Mono Medium" pitchFamily="34" charset="-120"/>
              </a:rPr>
              <a:t>PHYSICAL</a:t>
            </a:r>
            <a:endParaRPr lang="en-US" sz="1300" dirty="0"/>
          </a:p>
        </p:txBody>
      </p:sp>
      <p:sp>
        <p:nvSpPr>
          <p:cNvPr id="8" name="Text 6"/>
          <p:cNvSpPr/>
          <p:nvPr/>
        </p:nvSpPr>
        <p:spPr>
          <a:xfrm>
            <a:off x="914377" y="2833946"/>
            <a:ext cx="4648084" cy="313630"/>
          </a:xfrm>
          <a:prstGeom prst="rect">
            <a:avLst/>
          </a:prstGeom>
          <a:noFill/>
          <a:ln/>
        </p:spPr>
        <p:txBody>
          <a:bodyPr wrap="none" lIns="0" tIns="0" rIns="0" bIns="0" rtlCol="0" anchor="t"/>
          <a:lstStyle/>
          <a:p>
            <a:pPr marL="0" indent="0" algn="l">
              <a:lnSpc>
                <a:spcPct val="108000"/>
              </a:lnSpc>
              <a:buNone/>
            </a:pPr>
            <a:r>
              <a:rPr lang="en-US" sz="1900" dirty="0">
                <a:solidFill>
                  <a:srgbClr val="101A3A"/>
                </a:solidFill>
                <a:latin typeface="Reddit Sans Medium" pitchFamily="34" charset="0"/>
                <a:ea typeface="Reddit Sans Medium" pitchFamily="34" charset="-122"/>
                <a:cs typeface="Reddit Sans Medium" pitchFamily="34" charset="-120"/>
              </a:rPr>
              <a:t>Physical data independence</a:t>
            </a:r>
            <a:endParaRPr lang="en-US" sz="1900" dirty="0"/>
          </a:p>
        </p:txBody>
      </p:sp>
      <p:sp>
        <p:nvSpPr>
          <p:cNvPr id="9" name="Text 7"/>
          <p:cNvSpPr/>
          <p:nvPr/>
        </p:nvSpPr>
        <p:spPr>
          <a:xfrm>
            <a:off x="914377" y="3286641"/>
            <a:ext cx="4648084"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01A3A"/>
                </a:solidFill>
                <a:latin typeface="Reddit Sans" pitchFamily="34" charset="0"/>
                <a:ea typeface="Reddit Sans" pitchFamily="34" charset="-122"/>
                <a:cs typeface="Reddit Sans" pitchFamily="34" charset="-120"/>
              </a:rPr>
              <a:t>Change storage details without changing the logical schema.</a:t>
            </a:r>
            <a:endParaRPr lang="en-US" sz="1600" dirty="0"/>
          </a:p>
        </p:txBody>
      </p:sp>
      <p:sp>
        <p:nvSpPr>
          <p:cNvPr id="10" name="Shape 8"/>
          <p:cNvSpPr/>
          <p:nvPr/>
        </p:nvSpPr>
        <p:spPr>
          <a:xfrm>
            <a:off x="914377" y="4020344"/>
            <a:ext cx="1533685" cy="31651"/>
          </a:xfrm>
          <a:prstGeom prst="roundRect">
            <a:avLst>
              <a:gd name="adj" fmla="val 49998"/>
            </a:avLst>
          </a:prstGeom>
          <a:solidFill>
            <a:srgbClr val="1F4FE0"/>
          </a:solidFill>
          <a:ln/>
        </p:spPr>
      </p:sp>
      <p:sp>
        <p:nvSpPr>
          <p:cNvPr id="11" name="Text 9"/>
          <p:cNvSpPr/>
          <p:nvPr/>
        </p:nvSpPr>
        <p:spPr>
          <a:xfrm>
            <a:off x="914377" y="4225528"/>
            <a:ext cx="4648084" cy="428625"/>
          </a:xfrm>
          <a:prstGeom prst="rect">
            <a:avLst/>
          </a:prstGeom>
          <a:noFill/>
          <a:ln/>
        </p:spPr>
        <p:txBody>
          <a:bodyPr wrap="square" lIns="0" tIns="0" rIns="0" bIns="0" rtlCol="0" anchor="t">
            <a:normAutofit/>
          </a:bodyPr>
          <a:lstStyle/>
          <a:p>
            <a:pPr marL="0" indent="0" algn="l">
              <a:lnSpc>
                <a:spcPct val="112000"/>
              </a:lnSpc>
              <a:buNone/>
            </a:pPr>
            <a:r>
              <a:rPr lang="en-US" sz="1250" dirty="0">
                <a:solidFill>
                  <a:srgbClr val="4A5372"/>
                </a:solidFill>
                <a:latin typeface="Reddit Sans" pitchFamily="34" charset="0"/>
                <a:ea typeface="Reddit Sans" pitchFamily="34" charset="-122"/>
                <a:cs typeface="Reddit Sans" pitchFamily="34" charset="-120"/>
              </a:rPr>
              <a:t>Example: reorganize files or add an index while applications keep using the same logical tables.</a:t>
            </a:r>
            <a:endParaRPr lang="en-US" sz="1250" dirty="0"/>
          </a:p>
        </p:txBody>
      </p:sp>
      <p:sp>
        <p:nvSpPr>
          <p:cNvPr id="12" name="Shape 10"/>
          <p:cNvSpPr/>
          <p:nvPr/>
        </p:nvSpPr>
        <p:spPr>
          <a:xfrm>
            <a:off x="6324442" y="2104330"/>
            <a:ext cx="5257668" cy="4144070"/>
          </a:xfrm>
          <a:prstGeom prst="roundRect">
            <a:avLst>
              <a:gd name="adj" fmla="val 4413"/>
            </a:avLst>
          </a:prstGeom>
          <a:solidFill>
            <a:srgbClr val="D2DCF9"/>
          </a:solidFill>
          <a:ln/>
        </p:spPr>
      </p:sp>
      <p:sp>
        <p:nvSpPr>
          <p:cNvPr id="13" name="Shape 11"/>
          <p:cNvSpPr/>
          <p:nvPr/>
        </p:nvSpPr>
        <p:spPr>
          <a:xfrm>
            <a:off x="6324442" y="2104330"/>
            <a:ext cx="5257668" cy="101600"/>
          </a:xfrm>
          <a:prstGeom prst="rect">
            <a:avLst/>
          </a:prstGeom>
          <a:solidFill>
            <a:srgbClr val="FF8420"/>
          </a:solidFill>
          <a:ln/>
        </p:spPr>
      </p:sp>
      <p:sp>
        <p:nvSpPr>
          <p:cNvPr id="14" name="Shape 12"/>
          <p:cNvSpPr/>
          <p:nvPr/>
        </p:nvSpPr>
        <p:spPr>
          <a:xfrm>
            <a:off x="6629234" y="2485330"/>
            <a:ext cx="927176" cy="254000"/>
          </a:xfrm>
          <a:prstGeom prst="roundRect">
            <a:avLst>
              <a:gd name="adj" fmla="val 49999"/>
            </a:avLst>
          </a:prstGeom>
          <a:solidFill>
            <a:srgbClr val="D2DCF9"/>
          </a:solidFill>
          <a:ln/>
        </p:spPr>
      </p:sp>
      <p:sp>
        <p:nvSpPr>
          <p:cNvPr id="15" name="Text 13"/>
          <p:cNvSpPr/>
          <p:nvPr/>
        </p:nvSpPr>
        <p:spPr>
          <a:xfrm>
            <a:off x="6756231" y="2545656"/>
            <a:ext cx="1282767" cy="165100"/>
          </a:xfrm>
          <a:prstGeom prst="rect">
            <a:avLst/>
          </a:prstGeom>
          <a:noFill/>
          <a:ln/>
        </p:spPr>
        <p:txBody>
          <a:bodyPr wrap="none" lIns="0" tIns="0" rIns="0" bIns="0" rtlCol="0" anchor="t"/>
          <a:lstStyle/>
          <a:p>
            <a:pPr marL="0" indent="0" algn="l">
              <a:lnSpc>
                <a:spcPct val="83000"/>
              </a:lnSpc>
              <a:buNone/>
            </a:pPr>
            <a:r>
              <a:rPr lang="en-US" sz="1300" kern="100" spc="26" dirty="0">
                <a:solidFill>
                  <a:srgbClr val="101A3A"/>
                </a:solidFill>
                <a:latin typeface="Reddit Mono Medium" pitchFamily="34" charset="0"/>
                <a:ea typeface="Reddit Mono Medium" pitchFamily="34" charset="-122"/>
                <a:cs typeface="Reddit Mono Medium" pitchFamily="34" charset="-120"/>
              </a:rPr>
              <a:t>LOGICAL</a:t>
            </a:r>
            <a:endParaRPr lang="en-US" sz="1300" dirty="0"/>
          </a:p>
        </p:txBody>
      </p:sp>
      <p:sp>
        <p:nvSpPr>
          <p:cNvPr id="16" name="Text 14"/>
          <p:cNvSpPr/>
          <p:nvPr/>
        </p:nvSpPr>
        <p:spPr>
          <a:xfrm>
            <a:off x="6629234" y="2833946"/>
            <a:ext cx="4648084" cy="313630"/>
          </a:xfrm>
          <a:prstGeom prst="rect">
            <a:avLst/>
          </a:prstGeom>
          <a:noFill/>
          <a:ln/>
        </p:spPr>
        <p:txBody>
          <a:bodyPr wrap="none" lIns="0" tIns="0" rIns="0" bIns="0" rtlCol="0" anchor="t"/>
          <a:lstStyle/>
          <a:p>
            <a:pPr marL="0" indent="0" algn="l">
              <a:lnSpc>
                <a:spcPct val="108000"/>
              </a:lnSpc>
              <a:buNone/>
            </a:pPr>
            <a:r>
              <a:rPr lang="en-US" sz="1900" dirty="0">
                <a:solidFill>
                  <a:srgbClr val="101A3A"/>
                </a:solidFill>
                <a:latin typeface="Reddit Sans Medium" pitchFamily="34" charset="0"/>
                <a:ea typeface="Reddit Sans Medium" pitchFamily="34" charset="-122"/>
                <a:cs typeface="Reddit Sans Medium" pitchFamily="34" charset="-120"/>
              </a:rPr>
              <a:t>Logical data independence</a:t>
            </a:r>
            <a:endParaRPr lang="en-US" sz="1900" dirty="0"/>
          </a:p>
        </p:txBody>
      </p:sp>
      <p:sp>
        <p:nvSpPr>
          <p:cNvPr id="17" name="Text 15"/>
          <p:cNvSpPr/>
          <p:nvPr/>
        </p:nvSpPr>
        <p:spPr>
          <a:xfrm>
            <a:off x="6629234" y="3286641"/>
            <a:ext cx="4648084"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01A3A"/>
                </a:solidFill>
                <a:latin typeface="Reddit Sans" pitchFamily="34" charset="0"/>
                <a:ea typeface="Reddit Sans" pitchFamily="34" charset="-122"/>
                <a:cs typeface="Reddit Sans" pitchFamily="34" charset="-120"/>
              </a:rPr>
              <a:t>Change the logical schema without rewriting every user view.</a:t>
            </a:r>
            <a:endParaRPr lang="en-US" sz="1600" dirty="0"/>
          </a:p>
        </p:txBody>
      </p:sp>
      <p:sp>
        <p:nvSpPr>
          <p:cNvPr id="18" name="Shape 16"/>
          <p:cNvSpPr/>
          <p:nvPr/>
        </p:nvSpPr>
        <p:spPr>
          <a:xfrm>
            <a:off x="6629234" y="4020344"/>
            <a:ext cx="1533685" cy="31651"/>
          </a:xfrm>
          <a:prstGeom prst="roundRect">
            <a:avLst>
              <a:gd name="adj" fmla="val 49998"/>
            </a:avLst>
          </a:prstGeom>
          <a:solidFill>
            <a:srgbClr val="FF8420"/>
          </a:solidFill>
          <a:ln/>
        </p:spPr>
      </p:sp>
      <p:sp>
        <p:nvSpPr>
          <p:cNvPr id="19" name="Text 17"/>
          <p:cNvSpPr/>
          <p:nvPr/>
        </p:nvSpPr>
        <p:spPr>
          <a:xfrm>
            <a:off x="6629234" y="4225528"/>
            <a:ext cx="4648084" cy="428625"/>
          </a:xfrm>
          <a:prstGeom prst="rect">
            <a:avLst/>
          </a:prstGeom>
          <a:noFill/>
          <a:ln/>
        </p:spPr>
        <p:txBody>
          <a:bodyPr wrap="square" lIns="0" tIns="0" rIns="0" bIns="0" rtlCol="0" anchor="t">
            <a:normAutofit/>
          </a:bodyPr>
          <a:lstStyle/>
          <a:p>
            <a:pPr marL="0" indent="0" algn="l">
              <a:lnSpc>
                <a:spcPct val="112000"/>
              </a:lnSpc>
              <a:buNone/>
            </a:pPr>
            <a:r>
              <a:rPr lang="en-US" sz="1250" dirty="0">
                <a:solidFill>
                  <a:srgbClr val="4A5372"/>
                </a:solidFill>
                <a:latin typeface="Reddit Sans" pitchFamily="34" charset="0"/>
                <a:ea typeface="Reddit Sans" pitchFamily="34" charset="-122"/>
                <a:cs typeface="Reddit Sans" pitchFamily="34" charset="-120"/>
              </a:rPr>
              <a:t>Example: extend the conceptual structure while preserving the views that users already rely on.</a:t>
            </a:r>
            <a:endParaRPr lang="en-US" sz="1250" dirty="0"/>
          </a:p>
        </p:txBody>
      </p:sp>
      <p:pic>
        <p:nvPicPr>
          <p:cNvPr id="21" name="Picture 20">
            <a:extLst>
              <a:ext uri="{FF2B5EF4-FFF2-40B4-BE49-F238E27FC236}">
                <a16:creationId xmlns:a16="http://schemas.microsoft.com/office/drawing/2014/main" id="{3AD24E86-BDC9-F6C8-53EE-12FD18444A66}"/>
              </a:ext>
            </a:extLst>
          </p:cNvPr>
          <p:cNvPicPr>
            <a:picLocks noChangeAspect="1"/>
          </p:cNvPicPr>
          <p:nvPr/>
        </p:nvPicPr>
        <p:blipFill>
          <a:blip r:embed="rId3"/>
          <a:stretch>
            <a:fillRect/>
          </a:stretch>
        </p:blipFill>
        <p:spPr>
          <a:xfrm>
            <a:off x="10718724" y="6473817"/>
            <a:ext cx="1473276" cy="31116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40080"/>
            <a:ext cx="10972526" cy="411460"/>
          </a:xfrm>
          <a:prstGeom prst="rect">
            <a:avLst/>
          </a:prstGeom>
          <a:noFill/>
          <a:ln/>
        </p:spPr>
        <p:txBody>
          <a:bodyPr wrap="none" lIns="0" tIns="0" rIns="0" bIns="0" rtlCol="0" anchor="t"/>
          <a:lstStyle/>
          <a:p>
            <a:pPr marL="0" indent="0" algn="l">
              <a:lnSpc>
                <a:spcPct val="90000"/>
              </a:lnSpc>
              <a:buNone/>
            </a:pPr>
            <a:r>
              <a:rPr lang="en-US" sz="3000" b="1" kern="100" spc="-45" dirty="0">
                <a:solidFill>
                  <a:srgbClr val="101A3A"/>
                </a:solidFill>
                <a:latin typeface="Parkinsans Bold" pitchFamily="34" charset="0"/>
                <a:ea typeface="Parkinsans Bold" pitchFamily="34" charset="-122"/>
                <a:cs typeface="Parkinsans Bold" pitchFamily="34" charset="-120"/>
              </a:rPr>
              <a:t>A query travels through a processing pipeline</a:t>
            </a:r>
            <a:endParaRPr lang="en-US" sz="3000" dirty="0"/>
          </a:p>
        </p:txBody>
      </p:sp>
      <p:sp>
        <p:nvSpPr>
          <p:cNvPr id="3" name="Text 1"/>
          <p:cNvSpPr/>
          <p:nvPr/>
        </p:nvSpPr>
        <p:spPr>
          <a:xfrm>
            <a:off x="609585" y="1230293"/>
            <a:ext cx="11582110" cy="337741"/>
          </a:xfrm>
          <a:prstGeom prst="rect">
            <a:avLst/>
          </a:prstGeom>
          <a:noFill/>
          <a:ln/>
        </p:spPr>
        <p:txBody>
          <a:bodyPr wrap="none" lIns="0" tIns="0" rIns="0" bIns="0" rtlCol="0" anchor="t"/>
          <a:lstStyle/>
          <a:p>
            <a:pPr marL="0" indent="0" algn="l">
              <a:lnSpc>
                <a:spcPct val="117000"/>
              </a:lnSpc>
              <a:buNone/>
            </a:pPr>
            <a:r>
              <a:rPr lang="en-US" sz="1900" dirty="0">
                <a:solidFill>
                  <a:srgbClr val="101A3A"/>
                </a:solidFill>
                <a:latin typeface="Reddit Sans" pitchFamily="34" charset="0"/>
                <a:ea typeface="Reddit Sans" pitchFamily="34" charset="-122"/>
                <a:cs typeface="Reddit Sans" pitchFamily="34" charset="-120"/>
              </a:rPr>
              <a:t>Each stage narrows the distance between a request and a returned result.</a:t>
            </a:r>
            <a:endParaRPr lang="en-US" sz="1900" dirty="0"/>
          </a:p>
        </p:txBody>
      </p:sp>
      <p:sp>
        <p:nvSpPr>
          <p:cNvPr id="4" name="Text 2"/>
          <p:cNvSpPr/>
          <p:nvPr/>
        </p:nvSpPr>
        <p:spPr>
          <a:xfrm>
            <a:off x="609585" y="3178274"/>
            <a:ext cx="820022" cy="203200"/>
          </a:xfrm>
          <a:prstGeom prst="rect">
            <a:avLst/>
          </a:prstGeom>
          <a:noFill/>
          <a:ln/>
        </p:spPr>
        <p:txBody>
          <a:bodyPr wrap="none" lIns="0" tIns="0" rIns="0" bIns="0" rtlCol="0" anchor="t"/>
          <a:lstStyle/>
          <a:p>
            <a:pPr marL="0" indent="0" algn="l">
              <a:lnSpc>
                <a:spcPct val="83000"/>
              </a:lnSpc>
              <a:buNone/>
            </a:pPr>
            <a:r>
              <a:rPr lang="en-US" sz="1600" dirty="0">
                <a:solidFill>
                  <a:srgbClr val="1F4FE0"/>
                </a:solidFill>
                <a:latin typeface="Reddit Sans SemiBold" pitchFamily="34" charset="0"/>
                <a:ea typeface="Reddit Sans SemiBold" pitchFamily="34" charset="-122"/>
                <a:cs typeface="Reddit Sans SemiBold" pitchFamily="34" charset="-120"/>
              </a:rPr>
              <a:t>01</a:t>
            </a:r>
            <a:endParaRPr lang="en-US" sz="1600" dirty="0"/>
          </a:p>
        </p:txBody>
      </p:sp>
      <p:sp>
        <p:nvSpPr>
          <p:cNvPr id="5" name="Shape 3"/>
          <p:cNvSpPr/>
          <p:nvPr/>
        </p:nvSpPr>
        <p:spPr>
          <a:xfrm>
            <a:off x="609585" y="3462734"/>
            <a:ext cx="2400240" cy="19050"/>
          </a:xfrm>
          <a:prstGeom prst="rect">
            <a:avLst/>
          </a:prstGeom>
          <a:solidFill>
            <a:srgbClr val="1F4FE0"/>
          </a:solidFill>
          <a:ln/>
        </p:spPr>
      </p:sp>
      <p:sp>
        <p:nvSpPr>
          <p:cNvPr id="6" name="Text 4"/>
          <p:cNvSpPr/>
          <p:nvPr/>
        </p:nvSpPr>
        <p:spPr>
          <a:xfrm>
            <a:off x="609585" y="3615690"/>
            <a:ext cx="2400240" cy="313630"/>
          </a:xfrm>
          <a:prstGeom prst="rect">
            <a:avLst/>
          </a:prstGeom>
          <a:noFill/>
          <a:ln/>
        </p:spPr>
        <p:txBody>
          <a:bodyPr wrap="none" lIns="0" tIns="0" rIns="0" bIns="0" rtlCol="0" anchor="t"/>
          <a:lstStyle/>
          <a:p>
            <a:pPr marL="0" indent="0" algn="l">
              <a:lnSpc>
                <a:spcPct val="108000"/>
              </a:lnSpc>
              <a:buNone/>
            </a:pPr>
            <a:r>
              <a:rPr lang="en-US" sz="1900" dirty="0">
                <a:solidFill>
                  <a:srgbClr val="101A3A"/>
                </a:solidFill>
                <a:latin typeface="Reddit Sans Medium" pitchFamily="34" charset="0"/>
                <a:ea typeface="Reddit Sans Medium" pitchFamily="34" charset="-122"/>
                <a:cs typeface="Reddit Sans Medium" pitchFamily="34" charset="-120"/>
              </a:rPr>
              <a:t>Parse &amp; validate</a:t>
            </a:r>
            <a:endParaRPr lang="en-US" sz="1900" dirty="0"/>
          </a:p>
        </p:txBody>
      </p:sp>
      <p:sp>
        <p:nvSpPr>
          <p:cNvPr id="7" name="Text 5"/>
          <p:cNvSpPr/>
          <p:nvPr/>
        </p:nvSpPr>
        <p:spPr>
          <a:xfrm>
            <a:off x="609585" y="4068385"/>
            <a:ext cx="2400240"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01A3A"/>
                </a:solidFill>
                <a:latin typeface="Reddit Sans" pitchFamily="34" charset="0"/>
                <a:ea typeface="Reddit Sans" pitchFamily="34" charset="-122"/>
                <a:cs typeface="Reddit Sans" pitchFamily="34" charset="-120"/>
              </a:rPr>
              <a:t>Check the SQL request for valid syntax and meaning.</a:t>
            </a:r>
            <a:endParaRPr lang="en-US" sz="1600" dirty="0"/>
          </a:p>
        </p:txBody>
      </p:sp>
      <p:sp>
        <p:nvSpPr>
          <p:cNvPr id="8" name="Text 6"/>
          <p:cNvSpPr/>
          <p:nvPr/>
        </p:nvSpPr>
        <p:spPr>
          <a:xfrm>
            <a:off x="3467013" y="3178274"/>
            <a:ext cx="858518" cy="203200"/>
          </a:xfrm>
          <a:prstGeom prst="rect">
            <a:avLst/>
          </a:prstGeom>
          <a:noFill/>
          <a:ln/>
        </p:spPr>
        <p:txBody>
          <a:bodyPr wrap="none" lIns="0" tIns="0" rIns="0" bIns="0" rtlCol="0" anchor="t"/>
          <a:lstStyle/>
          <a:p>
            <a:pPr marL="0" indent="0" algn="l">
              <a:lnSpc>
                <a:spcPct val="83000"/>
              </a:lnSpc>
              <a:buNone/>
            </a:pPr>
            <a:r>
              <a:rPr lang="en-US" sz="1600" dirty="0">
                <a:solidFill>
                  <a:srgbClr val="1F4FE0"/>
                </a:solidFill>
                <a:latin typeface="Reddit Sans SemiBold" pitchFamily="34" charset="0"/>
                <a:ea typeface="Reddit Sans SemiBold" pitchFamily="34" charset="-122"/>
                <a:cs typeface="Reddit Sans SemiBold" pitchFamily="34" charset="-120"/>
              </a:rPr>
              <a:t>02</a:t>
            </a:r>
            <a:endParaRPr lang="en-US" sz="1600" dirty="0"/>
          </a:p>
        </p:txBody>
      </p:sp>
      <p:sp>
        <p:nvSpPr>
          <p:cNvPr id="9" name="Shape 7"/>
          <p:cNvSpPr/>
          <p:nvPr/>
        </p:nvSpPr>
        <p:spPr>
          <a:xfrm>
            <a:off x="3467013" y="3462734"/>
            <a:ext cx="2400240" cy="19050"/>
          </a:xfrm>
          <a:prstGeom prst="rect">
            <a:avLst/>
          </a:prstGeom>
          <a:solidFill>
            <a:srgbClr val="1F4FE0"/>
          </a:solidFill>
          <a:ln/>
        </p:spPr>
      </p:sp>
      <p:sp>
        <p:nvSpPr>
          <p:cNvPr id="10" name="Text 8"/>
          <p:cNvSpPr/>
          <p:nvPr/>
        </p:nvSpPr>
        <p:spPr>
          <a:xfrm>
            <a:off x="3467013" y="3615690"/>
            <a:ext cx="2400240" cy="313630"/>
          </a:xfrm>
          <a:prstGeom prst="rect">
            <a:avLst/>
          </a:prstGeom>
          <a:noFill/>
          <a:ln/>
        </p:spPr>
        <p:txBody>
          <a:bodyPr wrap="none" lIns="0" tIns="0" rIns="0" bIns="0" rtlCol="0" anchor="t"/>
          <a:lstStyle/>
          <a:p>
            <a:pPr marL="0" indent="0" algn="l">
              <a:lnSpc>
                <a:spcPct val="108000"/>
              </a:lnSpc>
              <a:buNone/>
            </a:pPr>
            <a:r>
              <a:rPr lang="en-US" sz="1900" dirty="0">
                <a:solidFill>
                  <a:srgbClr val="101A3A"/>
                </a:solidFill>
                <a:latin typeface="Reddit Sans Medium" pitchFamily="34" charset="0"/>
                <a:ea typeface="Reddit Sans Medium" pitchFamily="34" charset="-122"/>
                <a:cs typeface="Reddit Sans Medium" pitchFamily="34" charset="-120"/>
              </a:rPr>
              <a:t>Plan</a:t>
            </a:r>
            <a:endParaRPr lang="en-US" sz="1900" dirty="0"/>
          </a:p>
        </p:txBody>
      </p:sp>
      <p:sp>
        <p:nvSpPr>
          <p:cNvPr id="11" name="Text 9"/>
          <p:cNvSpPr/>
          <p:nvPr/>
        </p:nvSpPr>
        <p:spPr>
          <a:xfrm>
            <a:off x="3467013" y="4068385"/>
            <a:ext cx="2400240"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01A3A"/>
                </a:solidFill>
                <a:latin typeface="Reddit Sans" pitchFamily="34" charset="0"/>
                <a:ea typeface="Reddit Sans" pitchFamily="34" charset="-122"/>
                <a:cs typeface="Reddit Sans" pitchFamily="34" charset="-120"/>
              </a:rPr>
              <a:t>Choose an efficient way to execute the request.</a:t>
            </a:r>
            <a:endParaRPr lang="en-US" sz="1600" dirty="0"/>
          </a:p>
        </p:txBody>
      </p:sp>
      <p:sp>
        <p:nvSpPr>
          <p:cNvPr id="12" name="Text 10"/>
          <p:cNvSpPr/>
          <p:nvPr/>
        </p:nvSpPr>
        <p:spPr>
          <a:xfrm>
            <a:off x="6324442" y="3178274"/>
            <a:ext cx="857923" cy="203200"/>
          </a:xfrm>
          <a:prstGeom prst="rect">
            <a:avLst/>
          </a:prstGeom>
          <a:noFill/>
          <a:ln/>
        </p:spPr>
        <p:txBody>
          <a:bodyPr wrap="none" lIns="0" tIns="0" rIns="0" bIns="0" rtlCol="0" anchor="t"/>
          <a:lstStyle/>
          <a:p>
            <a:pPr marL="0" indent="0" algn="l">
              <a:lnSpc>
                <a:spcPct val="83000"/>
              </a:lnSpc>
              <a:buNone/>
            </a:pPr>
            <a:r>
              <a:rPr lang="en-US" sz="1600" dirty="0">
                <a:solidFill>
                  <a:srgbClr val="1F4FE0"/>
                </a:solidFill>
                <a:latin typeface="Reddit Sans SemiBold" pitchFamily="34" charset="0"/>
                <a:ea typeface="Reddit Sans SemiBold" pitchFamily="34" charset="-122"/>
                <a:cs typeface="Reddit Sans SemiBold" pitchFamily="34" charset="-120"/>
              </a:rPr>
              <a:t>03</a:t>
            </a:r>
            <a:endParaRPr lang="en-US" sz="1600" dirty="0"/>
          </a:p>
        </p:txBody>
      </p:sp>
      <p:sp>
        <p:nvSpPr>
          <p:cNvPr id="13" name="Shape 11"/>
          <p:cNvSpPr/>
          <p:nvPr/>
        </p:nvSpPr>
        <p:spPr>
          <a:xfrm>
            <a:off x="6324442" y="3462734"/>
            <a:ext cx="2400240" cy="19050"/>
          </a:xfrm>
          <a:prstGeom prst="rect">
            <a:avLst/>
          </a:prstGeom>
          <a:solidFill>
            <a:srgbClr val="1F4FE0"/>
          </a:solidFill>
          <a:ln/>
        </p:spPr>
      </p:sp>
      <p:sp>
        <p:nvSpPr>
          <p:cNvPr id="14" name="Text 12"/>
          <p:cNvSpPr/>
          <p:nvPr/>
        </p:nvSpPr>
        <p:spPr>
          <a:xfrm>
            <a:off x="6324442" y="3615690"/>
            <a:ext cx="2400240" cy="313630"/>
          </a:xfrm>
          <a:prstGeom prst="rect">
            <a:avLst/>
          </a:prstGeom>
          <a:noFill/>
          <a:ln/>
        </p:spPr>
        <p:txBody>
          <a:bodyPr wrap="none" lIns="0" tIns="0" rIns="0" bIns="0" rtlCol="0" anchor="t"/>
          <a:lstStyle/>
          <a:p>
            <a:pPr marL="0" indent="0" algn="l">
              <a:lnSpc>
                <a:spcPct val="108000"/>
              </a:lnSpc>
              <a:buNone/>
            </a:pPr>
            <a:r>
              <a:rPr lang="en-US" sz="1900" dirty="0">
                <a:solidFill>
                  <a:srgbClr val="101A3A"/>
                </a:solidFill>
                <a:latin typeface="Reddit Sans Medium" pitchFamily="34" charset="0"/>
                <a:ea typeface="Reddit Sans Medium" pitchFamily="34" charset="-122"/>
                <a:cs typeface="Reddit Sans Medium" pitchFamily="34" charset="-120"/>
              </a:rPr>
              <a:t>Run</a:t>
            </a:r>
            <a:endParaRPr lang="en-US" sz="1900" dirty="0"/>
          </a:p>
        </p:txBody>
      </p:sp>
      <p:sp>
        <p:nvSpPr>
          <p:cNvPr id="15" name="Text 13"/>
          <p:cNvSpPr/>
          <p:nvPr/>
        </p:nvSpPr>
        <p:spPr>
          <a:xfrm>
            <a:off x="6324442" y="4068385"/>
            <a:ext cx="2400240"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01A3A"/>
                </a:solidFill>
                <a:latin typeface="Reddit Sans" pitchFamily="34" charset="0"/>
                <a:ea typeface="Reddit Sans" pitchFamily="34" charset="-122"/>
                <a:cs typeface="Reddit Sans" pitchFamily="34" charset="-120"/>
              </a:rPr>
              <a:t>Apply the plan against stored data.</a:t>
            </a:r>
            <a:endParaRPr lang="en-US" sz="1600" dirty="0"/>
          </a:p>
        </p:txBody>
      </p:sp>
      <p:sp>
        <p:nvSpPr>
          <p:cNvPr id="16" name="Text 14"/>
          <p:cNvSpPr/>
          <p:nvPr/>
        </p:nvSpPr>
        <p:spPr>
          <a:xfrm>
            <a:off x="9181870" y="3178274"/>
            <a:ext cx="863975" cy="203200"/>
          </a:xfrm>
          <a:prstGeom prst="rect">
            <a:avLst/>
          </a:prstGeom>
          <a:noFill/>
          <a:ln/>
        </p:spPr>
        <p:txBody>
          <a:bodyPr wrap="none" lIns="0" tIns="0" rIns="0" bIns="0" rtlCol="0" anchor="t"/>
          <a:lstStyle/>
          <a:p>
            <a:pPr marL="0" indent="0" algn="l">
              <a:lnSpc>
                <a:spcPct val="83000"/>
              </a:lnSpc>
              <a:buNone/>
            </a:pPr>
            <a:r>
              <a:rPr lang="en-US" sz="1600" dirty="0">
                <a:solidFill>
                  <a:srgbClr val="1F4FE0"/>
                </a:solidFill>
                <a:latin typeface="Reddit Sans SemiBold" pitchFamily="34" charset="0"/>
                <a:ea typeface="Reddit Sans SemiBold" pitchFamily="34" charset="-122"/>
                <a:cs typeface="Reddit Sans SemiBold" pitchFamily="34" charset="-120"/>
              </a:rPr>
              <a:t>04</a:t>
            </a:r>
            <a:endParaRPr lang="en-US" sz="1600" dirty="0"/>
          </a:p>
        </p:txBody>
      </p:sp>
      <p:sp>
        <p:nvSpPr>
          <p:cNvPr id="17" name="Shape 15"/>
          <p:cNvSpPr/>
          <p:nvPr/>
        </p:nvSpPr>
        <p:spPr>
          <a:xfrm>
            <a:off x="9181870" y="3462734"/>
            <a:ext cx="2400240" cy="19050"/>
          </a:xfrm>
          <a:prstGeom prst="rect">
            <a:avLst/>
          </a:prstGeom>
          <a:solidFill>
            <a:srgbClr val="1F4FE0"/>
          </a:solidFill>
          <a:ln/>
        </p:spPr>
      </p:sp>
      <p:sp>
        <p:nvSpPr>
          <p:cNvPr id="18" name="Text 16"/>
          <p:cNvSpPr/>
          <p:nvPr/>
        </p:nvSpPr>
        <p:spPr>
          <a:xfrm>
            <a:off x="9181870" y="3615690"/>
            <a:ext cx="2400240" cy="313630"/>
          </a:xfrm>
          <a:prstGeom prst="rect">
            <a:avLst/>
          </a:prstGeom>
          <a:noFill/>
          <a:ln/>
        </p:spPr>
        <p:txBody>
          <a:bodyPr wrap="none" lIns="0" tIns="0" rIns="0" bIns="0" rtlCol="0" anchor="t"/>
          <a:lstStyle/>
          <a:p>
            <a:pPr marL="0" indent="0" algn="l">
              <a:lnSpc>
                <a:spcPct val="108000"/>
              </a:lnSpc>
              <a:buNone/>
            </a:pPr>
            <a:r>
              <a:rPr lang="en-US" sz="1900" dirty="0">
                <a:solidFill>
                  <a:srgbClr val="101A3A"/>
                </a:solidFill>
                <a:latin typeface="Reddit Sans Medium" pitchFamily="34" charset="0"/>
                <a:ea typeface="Reddit Sans Medium" pitchFamily="34" charset="-122"/>
                <a:cs typeface="Reddit Sans Medium" pitchFamily="34" charset="-120"/>
              </a:rPr>
              <a:t>Return</a:t>
            </a:r>
            <a:endParaRPr lang="en-US" sz="1900" dirty="0"/>
          </a:p>
        </p:txBody>
      </p:sp>
      <p:sp>
        <p:nvSpPr>
          <p:cNvPr id="19" name="Text 17"/>
          <p:cNvSpPr/>
          <p:nvPr/>
        </p:nvSpPr>
        <p:spPr>
          <a:xfrm>
            <a:off x="9181870" y="4068385"/>
            <a:ext cx="2400240"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01A3A"/>
                </a:solidFill>
                <a:latin typeface="Reddit Sans" pitchFamily="34" charset="0"/>
                <a:ea typeface="Reddit Sans" pitchFamily="34" charset="-122"/>
                <a:cs typeface="Reddit Sans" pitchFamily="34" charset="-120"/>
              </a:rPr>
              <a:t>Send the result back to the application.</a:t>
            </a:r>
            <a:endParaRPr lang="en-US" sz="1600" dirty="0"/>
          </a:p>
        </p:txBody>
      </p:sp>
      <p:pic>
        <p:nvPicPr>
          <p:cNvPr id="21" name="Picture 20">
            <a:extLst>
              <a:ext uri="{FF2B5EF4-FFF2-40B4-BE49-F238E27FC236}">
                <a16:creationId xmlns:a16="http://schemas.microsoft.com/office/drawing/2014/main" id="{91E38E6D-967C-F54F-2DA1-AD06068C8154}"/>
              </a:ext>
            </a:extLst>
          </p:cNvPr>
          <p:cNvPicPr>
            <a:picLocks noChangeAspect="1"/>
          </p:cNvPicPr>
          <p:nvPr/>
        </p:nvPicPr>
        <p:blipFill>
          <a:blip r:embed="rId3"/>
          <a:stretch>
            <a:fillRect/>
          </a:stretch>
        </p:blipFill>
        <p:spPr>
          <a:xfrm>
            <a:off x="10718724" y="6473817"/>
            <a:ext cx="1473276" cy="31116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40080"/>
            <a:ext cx="10972526" cy="411460"/>
          </a:xfrm>
          <a:prstGeom prst="rect">
            <a:avLst/>
          </a:prstGeom>
          <a:noFill/>
          <a:ln/>
        </p:spPr>
        <p:txBody>
          <a:bodyPr wrap="none" lIns="0" tIns="0" rIns="0" bIns="0" rtlCol="0" anchor="t"/>
          <a:lstStyle/>
          <a:p>
            <a:pPr marL="0" indent="0" algn="l">
              <a:lnSpc>
                <a:spcPct val="90000"/>
              </a:lnSpc>
              <a:buNone/>
            </a:pPr>
            <a:r>
              <a:rPr lang="en-US" sz="3000" b="1" kern="100" spc="-45" dirty="0">
                <a:solidFill>
                  <a:srgbClr val="101A3A"/>
                </a:solidFill>
                <a:latin typeface="Parkinsans Bold" pitchFamily="34" charset="0"/>
                <a:ea typeface="Parkinsans Bold" pitchFamily="34" charset="-122"/>
                <a:cs typeface="Parkinsans Bold" pitchFamily="34" charset="-120"/>
              </a:rPr>
              <a:t>The query processor turns intent into an executable plan</a:t>
            </a:r>
            <a:endParaRPr lang="en-US" sz="3000" dirty="0"/>
          </a:p>
        </p:txBody>
      </p:sp>
      <p:sp>
        <p:nvSpPr>
          <p:cNvPr id="3" name="Text 1"/>
          <p:cNvSpPr/>
          <p:nvPr/>
        </p:nvSpPr>
        <p:spPr>
          <a:xfrm>
            <a:off x="609585" y="1229340"/>
            <a:ext cx="11582110" cy="284460"/>
          </a:xfrm>
          <a:prstGeom prst="rect">
            <a:avLst/>
          </a:prstGeom>
          <a:noFill/>
          <a:ln/>
        </p:spPr>
        <p:txBody>
          <a:bodyPr wrap="none" lIns="0" tIns="0" rIns="0" bIns="0" rtlCol="0" anchor="t"/>
          <a:lstStyle/>
          <a:p>
            <a:pPr marL="0" indent="0" algn="l">
              <a:lnSpc>
                <a:spcPct val="117000"/>
              </a:lnSpc>
              <a:buNone/>
            </a:pPr>
            <a:r>
              <a:rPr lang="en-US" sz="1600" dirty="0">
                <a:solidFill>
                  <a:srgbClr val="101A3A"/>
                </a:solidFill>
                <a:latin typeface="Reddit Sans" pitchFamily="34" charset="0"/>
                <a:ea typeface="Reddit Sans" pitchFamily="34" charset="-122"/>
                <a:cs typeface="Reddit Sans" pitchFamily="34" charset="-120"/>
              </a:rPr>
              <a:t>Its job is to preserve correctness while using resources efficiently.</a:t>
            </a:r>
            <a:endParaRPr lang="en-US" sz="1600" dirty="0"/>
          </a:p>
        </p:txBody>
      </p:sp>
      <p:sp>
        <p:nvSpPr>
          <p:cNvPr id="4" name="Shape 2"/>
          <p:cNvSpPr/>
          <p:nvPr/>
        </p:nvSpPr>
        <p:spPr>
          <a:xfrm>
            <a:off x="609585" y="1692870"/>
            <a:ext cx="3454314" cy="4555530"/>
          </a:xfrm>
          <a:prstGeom prst="roundRect">
            <a:avLst>
              <a:gd name="adj" fmla="val 5294"/>
            </a:avLst>
          </a:prstGeom>
          <a:noFill/>
          <a:ln w="25399">
            <a:solidFill>
              <a:srgbClr val="B8C2DF"/>
            </a:solidFill>
            <a:prstDash val="solid"/>
          </a:ln>
        </p:spPr>
      </p:sp>
      <p:pic>
        <p:nvPicPr>
          <p:cNvPr id="5" name="Image 0" descr="preencoded.png"/>
          <p:cNvPicPr>
            <a:picLocks noChangeAspect="1"/>
          </p:cNvPicPr>
          <p:nvPr/>
        </p:nvPicPr>
        <p:blipFill>
          <a:blip r:embed="rId3"/>
          <a:stretch>
            <a:fillRect/>
          </a:stretch>
        </p:blipFill>
        <p:spPr>
          <a:xfrm>
            <a:off x="863578" y="1946870"/>
            <a:ext cx="507987" cy="508000"/>
          </a:xfrm>
          <a:prstGeom prst="rect">
            <a:avLst/>
          </a:prstGeom>
        </p:spPr>
      </p:pic>
      <p:sp>
        <p:nvSpPr>
          <p:cNvPr id="6" name="Text 3"/>
          <p:cNvSpPr/>
          <p:nvPr/>
        </p:nvSpPr>
        <p:spPr>
          <a:xfrm>
            <a:off x="863578" y="2587585"/>
            <a:ext cx="2946326" cy="313630"/>
          </a:xfrm>
          <a:prstGeom prst="rect">
            <a:avLst/>
          </a:prstGeom>
          <a:noFill/>
          <a:ln/>
        </p:spPr>
        <p:txBody>
          <a:bodyPr wrap="none" lIns="0" tIns="0" rIns="0" bIns="0" rtlCol="0" anchor="t"/>
          <a:lstStyle/>
          <a:p>
            <a:pPr marL="0" indent="0" algn="l">
              <a:lnSpc>
                <a:spcPct val="108000"/>
              </a:lnSpc>
              <a:buNone/>
            </a:pPr>
            <a:r>
              <a:rPr lang="en-US" sz="1900" dirty="0">
                <a:solidFill>
                  <a:srgbClr val="101A3A"/>
                </a:solidFill>
                <a:latin typeface="Reddit Sans Medium" pitchFamily="34" charset="0"/>
                <a:ea typeface="Reddit Sans Medium" pitchFamily="34" charset="-122"/>
                <a:cs typeface="Reddit Sans Medium" pitchFamily="34" charset="-120"/>
              </a:rPr>
              <a:t>Parser</a:t>
            </a:r>
            <a:endParaRPr lang="en-US" sz="1900" dirty="0"/>
          </a:p>
        </p:txBody>
      </p:sp>
      <p:sp>
        <p:nvSpPr>
          <p:cNvPr id="7" name="Text 4"/>
          <p:cNvSpPr/>
          <p:nvPr/>
        </p:nvSpPr>
        <p:spPr>
          <a:xfrm>
            <a:off x="863578" y="3040281"/>
            <a:ext cx="2946326" cy="1137841"/>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01A3A"/>
                </a:solidFill>
                <a:latin typeface="Reddit Sans" pitchFamily="34" charset="0"/>
                <a:ea typeface="Reddit Sans" pitchFamily="34" charset="-122"/>
                <a:cs typeface="Reddit Sans" pitchFamily="34" charset="-120"/>
              </a:rPr>
              <a:t>Checks syntax and meaning. It turns text into a structured representation the system can reason about.</a:t>
            </a:r>
            <a:endParaRPr lang="en-US" sz="1600" dirty="0"/>
          </a:p>
        </p:txBody>
      </p:sp>
      <p:sp>
        <p:nvSpPr>
          <p:cNvPr id="8" name="Shape 5"/>
          <p:cNvSpPr/>
          <p:nvPr/>
        </p:nvSpPr>
        <p:spPr>
          <a:xfrm>
            <a:off x="4368691" y="1692870"/>
            <a:ext cx="3454314" cy="4555530"/>
          </a:xfrm>
          <a:prstGeom prst="roundRect">
            <a:avLst>
              <a:gd name="adj" fmla="val 5294"/>
            </a:avLst>
          </a:prstGeom>
          <a:noFill/>
          <a:ln w="25399">
            <a:solidFill>
              <a:srgbClr val="B8C2DF"/>
            </a:solidFill>
            <a:prstDash val="solid"/>
          </a:ln>
        </p:spPr>
      </p:sp>
      <p:pic>
        <p:nvPicPr>
          <p:cNvPr id="9" name="Image 1" descr="preencoded.png"/>
          <p:cNvPicPr>
            <a:picLocks noChangeAspect="1"/>
          </p:cNvPicPr>
          <p:nvPr/>
        </p:nvPicPr>
        <p:blipFill>
          <a:blip r:embed="rId4"/>
          <a:stretch>
            <a:fillRect/>
          </a:stretch>
        </p:blipFill>
        <p:spPr>
          <a:xfrm>
            <a:off x="4622684" y="1946870"/>
            <a:ext cx="507987" cy="508000"/>
          </a:xfrm>
          <a:prstGeom prst="rect">
            <a:avLst/>
          </a:prstGeom>
        </p:spPr>
      </p:pic>
      <p:sp>
        <p:nvSpPr>
          <p:cNvPr id="10" name="Text 6"/>
          <p:cNvSpPr/>
          <p:nvPr/>
        </p:nvSpPr>
        <p:spPr>
          <a:xfrm>
            <a:off x="4622684" y="2587585"/>
            <a:ext cx="2946326" cy="313630"/>
          </a:xfrm>
          <a:prstGeom prst="rect">
            <a:avLst/>
          </a:prstGeom>
          <a:noFill/>
          <a:ln/>
        </p:spPr>
        <p:txBody>
          <a:bodyPr wrap="none" lIns="0" tIns="0" rIns="0" bIns="0" rtlCol="0" anchor="t"/>
          <a:lstStyle/>
          <a:p>
            <a:pPr marL="0" indent="0" algn="l">
              <a:lnSpc>
                <a:spcPct val="108000"/>
              </a:lnSpc>
              <a:buNone/>
            </a:pPr>
            <a:r>
              <a:rPr lang="en-US" sz="1900" dirty="0">
                <a:solidFill>
                  <a:srgbClr val="101A3A"/>
                </a:solidFill>
                <a:latin typeface="Reddit Sans Medium" pitchFamily="34" charset="0"/>
                <a:ea typeface="Reddit Sans Medium" pitchFamily="34" charset="-122"/>
                <a:cs typeface="Reddit Sans Medium" pitchFamily="34" charset="-120"/>
              </a:rPr>
              <a:t>Optimizer</a:t>
            </a:r>
            <a:endParaRPr lang="en-US" sz="1900" dirty="0"/>
          </a:p>
        </p:txBody>
      </p:sp>
      <p:sp>
        <p:nvSpPr>
          <p:cNvPr id="11" name="Text 7"/>
          <p:cNvSpPr/>
          <p:nvPr/>
        </p:nvSpPr>
        <p:spPr>
          <a:xfrm>
            <a:off x="4622684" y="3040281"/>
            <a:ext cx="2946326" cy="85338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01A3A"/>
                </a:solidFill>
                <a:latin typeface="Reddit Sans" pitchFamily="34" charset="0"/>
                <a:ea typeface="Reddit Sans" pitchFamily="34" charset="-122"/>
                <a:cs typeface="Reddit Sans" pitchFamily="34" charset="-120"/>
              </a:rPr>
              <a:t>Compares alternative strategies, such as different join orders or access paths.</a:t>
            </a:r>
            <a:endParaRPr lang="en-US" sz="1600" dirty="0"/>
          </a:p>
        </p:txBody>
      </p:sp>
      <p:sp>
        <p:nvSpPr>
          <p:cNvPr id="12" name="Shape 8"/>
          <p:cNvSpPr/>
          <p:nvPr/>
        </p:nvSpPr>
        <p:spPr>
          <a:xfrm>
            <a:off x="8127797" y="1692870"/>
            <a:ext cx="3454314" cy="4555530"/>
          </a:xfrm>
          <a:prstGeom prst="roundRect">
            <a:avLst>
              <a:gd name="adj" fmla="val 5294"/>
            </a:avLst>
          </a:prstGeom>
          <a:noFill/>
          <a:ln w="25399">
            <a:solidFill>
              <a:srgbClr val="B8C2DF"/>
            </a:solidFill>
            <a:prstDash val="solid"/>
          </a:ln>
        </p:spPr>
      </p:sp>
      <p:pic>
        <p:nvPicPr>
          <p:cNvPr id="13" name="Image 2" descr="preencoded.png"/>
          <p:cNvPicPr>
            <a:picLocks noChangeAspect="1"/>
          </p:cNvPicPr>
          <p:nvPr/>
        </p:nvPicPr>
        <p:blipFill>
          <a:blip r:embed="rId5"/>
          <a:stretch>
            <a:fillRect/>
          </a:stretch>
        </p:blipFill>
        <p:spPr>
          <a:xfrm>
            <a:off x="8381790" y="1946870"/>
            <a:ext cx="507987" cy="508000"/>
          </a:xfrm>
          <a:prstGeom prst="rect">
            <a:avLst/>
          </a:prstGeom>
        </p:spPr>
      </p:pic>
      <p:sp>
        <p:nvSpPr>
          <p:cNvPr id="14" name="Text 9"/>
          <p:cNvSpPr/>
          <p:nvPr/>
        </p:nvSpPr>
        <p:spPr>
          <a:xfrm>
            <a:off x="8381790" y="2587585"/>
            <a:ext cx="2946326" cy="313630"/>
          </a:xfrm>
          <a:prstGeom prst="rect">
            <a:avLst/>
          </a:prstGeom>
          <a:noFill/>
          <a:ln/>
        </p:spPr>
        <p:txBody>
          <a:bodyPr wrap="none" lIns="0" tIns="0" rIns="0" bIns="0" rtlCol="0" anchor="t"/>
          <a:lstStyle/>
          <a:p>
            <a:pPr marL="0" indent="0" algn="l">
              <a:lnSpc>
                <a:spcPct val="108000"/>
              </a:lnSpc>
              <a:buNone/>
            </a:pPr>
            <a:r>
              <a:rPr lang="en-US" sz="1900" dirty="0">
                <a:solidFill>
                  <a:srgbClr val="101A3A"/>
                </a:solidFill>
                <a:latin typeface="Reddit Sans Medium" pitchFamily="34" charset="0"/>
                <a:ea typeface="Reddit Sans Medium" pitchFamily="34" charset="-122"/>
                <a:cs typeface="Reddit Sans Medium" pitchFamily="34" charset="-120"/>
              </a:rPr>
              <a:t>Executor</a:t>
            </a:r>
            <a:endParaRPr lang="en-US" sz="1900" dirty="0"/>
          </a:p>
        </p:txBody>
      </p:sp>
      <p:sp>
        <p:nvSpPr>
          <p:cNvPr id="15" name="Text 10"/>
          <p:cNvSpPr/>
          <p:nvPr/>
        </p:nvSpPr>
        <p:spPr>
          <a:xfrm>
            <a:off x="8381790" y="3040281"/>
            <a:ext cx="2946326" cy="85338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01A3A"/>
                </a:solidFill>
                <a:latin typeface="Reddit Sans" pitchFamily="34" charset="0"/>
                <a:ea typeface="Reddit Sans" pitchFamily="34" charset="-122"/>
                <a:cs typeface="Reddit Sans" pitchFamily="34" charset="-120"/>
              </a:rPr>
              <a:t>Performs the selected operations and produces the requested result.</a:t>
            </a:r>
            <a:endParaRPr lang="en-US" sz="1600" dirty="0"/>
          </a:p>
        </p:txBody>
      </p:sp>
      <p:pic>
        <p:nvPicPr>
          <p:cNvPr id="17" name="Picture 16">
            <a:extLst>
              <a:ext uri="{FF2B5EF4-FFF2-40B4-BE49-F238E27FC236}">
                <a16:creationId xmlns:a16="http://schemas.microsoft.com/office/drawing/2014/main" id="{04244B1D-A16B-2C01-1856-B8D7EB3F4267}"/>
              </a:ext>
            </a:extLst>
          </p:cNvPr>
          <p:cNvPicPr>
            <a:picLocks noChangeAspect="1"/>
          </p:cNvPicPr>
          <p:nvPr/>
        </p:nvPicPr>
        <p:blipFill>
          <a:blip r:embed="rId6"/>
          <a:stretch>
            <a:fillRect/>
          </a:stretch>
        </p:blipFill>
        <p:spPr>
          <a:xfrm>
            <a:off x="10718724" y="6473817"/>
            <a:ext cx="1473276" cy="3111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0383" y="845562"/>
            <a:ext cx="6527637" cy="822920"/>
          </a:xfrm>
          <a:prstGeom prst="rect">
            <a:avLst/>
          </a:prstGeom>
          <a:noFill/>
          <a:ln/>
        </p:spPr>
        <p:txBody>
          <a:bodyPr wrap="square" lIns="0" tIns="0" rIns="0" bIns="0" rtlCol="0" anchor="t">
            <a:normAutofit/>
          </a:bodyPr>
          <a:lstStyle/>
          <a:p>
            <a:pPr marL="0" indent="0" algn="l">
              <a:lnSpc>
                <a:spcPct val="90000"/>
              </a:lnSpc>
              <a:buNone/>
            </a:pPr>
            <a:r>
              <a:rPr lang="en-US" sz="3000" b="1" kern="100" spc="-45" dirty="0">
                <a:solidFill>
                  <a:srgbClr val="101A3A"/>
                </a:solidFill>
                <a:latin typeface="Parkinsans Bold" pitchFamily="34" charset="0"/>
                <a:ea typeface="Parkinsans Bold" pitchFamily="34" charset="-122"/>
                <a:cs typeface="Parkinsans Bold" pitchFamily="34" charset="-120"/>
              </a:rPr>
              <a:t>The storage manager makes data durable and safe</a:t>
            </a:r>
            <a:endParaRPr lang="en-US" sz="3000" dirty="0"/>
          </a:p>
        </p:txBody>
      </p:sp>
      <p:sp>
        <p:nvSpPr>
          <p:cNvPr id="3" name="Text 1"/>
          <p:cNvSpPr/>
          <p:nvPr/>
        </p:nvSpPr>
        <p:spPr>
          <a:xfrm>
            <a:off x="660383" y="1846282"/>
            <a:ext cx="6527637" cy="1137841"/>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01A3A"/>
                </a:solidFill>
                <a:latin typeface="Reddit Sans" pitchFamily="34" charset="0"/>
                <a:ea typeface="Reddit Sans" pitchFamily="34" charset="-122"/>
                <a:cs typeface="Reddit Sans" pitchFamily="34" charset="-120"/>
              </a:rPr>
              <a:t>It organizes files, pages, records, and indexes; uses a buffer manager to move data between disk and memory; and coordinates transactions, concurrency, recovery, and authorization to protect consistency when many users work at once.</a:t>
            </a:r>
            <a:endParaRPr lang="en-US" sz="1600" dirty="0"/>
          </a:p>
        </p:txBody>
      </p:sp>
      <p:pic>
        <p:nvPicPr>
          <p:cNvPr id="4" name="Image 0" descr="preencoded.png"/>
          <p:cNvPicPr>
            <a:picLocks noChangeAspect="1"/>
          </p:cNvPicPr>
          <p:nvPr/>
        </p:nvPicPr>
        <p:blipFill>
          <a:blip r:embed="rId3"/>
          <a:stretch>
            <a:fillRect/>
          </a:stretch>
        </p:blipFill>
        <p:spPr>
          <a:xfrm>
            <a:off x="749281" y="3163193"/>
            <a:ext cx="6349841" cy="2930426"/>
          </a:xfrm>
          <a:prstGeom prst="rect">
            <a:avLst/>
          </a:prstGeom>
        </p:spPr>
      </p:pic>
      <p:sp>
        <p:nvSpPr>
          <p:cNvPr id="5" name="Text 2"/>
          <p:cNvSpPr/>
          <p:nvPr/>
        </p:nvSpPr>
        <p:spPr>
          <a:xfrm>
            <a:off x="2686080" y="3415731"/>
            <a:ext cx="2488943" cy="187056"/>
          </a:xfrm>
          <a:prstGeom prst="rect">
            <a:avLst/>
          </a:prstGeom>
          <a:noFill/>
          <a:ln/>
        </p:spPr>
        <p:txBody>
          <a:bodyPr wrap="none" lIns="0" tIns="0" rIns="0" bIns="0" rtlCol="0" anchor="t"/>
          <a:lstStyle/>
          <a:p>
            <a:pPr marL="0" indent="0" algn="ctr">
              <a:lnSpc>
                <a:spcPct val="108000"/>
              </a:lnSpc>
              <a:buNone/>
            </a:pPr>
            <a:r>
              <a:rPr lang="en-US" sz="1150" b="1" kern="100" spc="-17" dirty="0">
                <a:solidFill>
                  <a:srgbClr val="FFFFFF"/>
                </a:solidFill>
                <a:latin typeface="Parkinsans Bold" pitchFamily="34" charset="0"/>
                <a:ea typeface="Parkinsans Bold" pitchFamily="34" charset="-122"/>
                <a:cs typeface="Parkinsans Bold" pitchFamily="34" charset="-120"/>
              </a:rPr>
              <a:t>Storage Manager</a:t>
            </a:r>
            <a:endParaRPr lang="en-US" sz="1150" dirty="0"/>
          </a:p>
        </p:txBody>
      </p:sp>
      <p:sp>
        <p:nvSpPr>
          <p:cNvPr id="6" name="Text 3"/>
          <p:cNvSpPr/>
          <p:nvPr/>
        </p:nvSpPr>
        <p:spPr>
          <a:xfrm>
            <a:off x="1016114" y="4781674"/>
            <a:ext cx="1066614" cy="374112"/>
          </a:xfrm>
          <a:prstGeom prst="rect">
            <a:avLst/>
          </a:prstGeom>
          <a:noFill/>
          <a:ln/>
        </p:spPr>
        <p:txBody>
          <a:bodyPr wrap="square" lIns="0" tIns="0" rIns="0" bIns="0" rtlCol="0" anchor="t">
            <a:normAutofit/>
          </a:bodyPr>
          <a:lstStyle/>
          <a:p>
            <a:pPr marL="0" indent="0" algn="ctr">
              <a:lnSpc>
                <a:spcPct val="108000"/>
              </a:lnSpc>
              <a:buNone/>
            </a:pPr>
            <a:r>
              <a:rPr lang="en-US" sz="1150" b="1" kern="100" spc="-17" dirty="0">
                <a:solidFill>
                  <a:srgbClr val="101A3A"/>
                </a:solidFill>
                <a:latin typeface="Parkinsans Bold" pitchFamily="34" charset="0"/>
                <a:ea typeface="Parkinsans Bold" pitchFamily="34" charset="-122"/>
                <a:cs typeface="Parkinsans Bold" pitchFamily="34" charset="-120"/>
              </a:rPr>
              <a:t>Files, Pages, Records</a:t>
            </a:r>
            <a:endParaRPr lang="en-US" sz="1150" dirty="0"/>
          </a:p>
        </p:txBody>
      </p:sp>
      <p:sp>
        <p:nvSpPr>
          <p:cNvPr id="7" name="Text 4"/>
          <p:cNvSpPr/>
          <p:nvPr/>
        </p:nvSpPr>
        <p:spPr>
          <a:xfrm>
            <a:off x="1016114" y="5232248"/>
            <a:ext cx="1066614" cy="357046"/>
          </a:xfrm>
          <a:prstGeom prst="rect">
            <a:avLst/>
          </a:prstGeom>
          <a:noFill/>
          <a:ln/>
        </p:spPr>
        <p:txBody>
          <a:bodyPr wrap="square" lIns="0" tIns="0" rIns="0" bIns="0" rtlCol="0" anchor="t">
            <a:normAutofit/>
          </a:bodyPr>
          <a:lstStyle/>
          <a:p>
            <a:pPr marL="0" indent="0" algn="ctr">
              <a:lnSpc>
                <a:spcPct val="117000"/>
              </a:lnSpc>
              <a:buNone/>
            </a:pPr>
            <a:r>
              <a:rPr lang="en-US" sz="1000" dirty="0">
                <a:solidFill>
                  <a:srgbClr val="101A3A"/>
                </a:solidFill>
                <a:latin typeface="Reddit Sans" pitchFamily="34" charset="0"/>
                <a:ea typeface="Reddit Sans" pitchFamily="34" charset="-122"/>
                <a:cs typeface="Reddit Sans" pitchFamily="34" charset="-120"/>
              </a:rPr>
              <a:t>Organizes physical data layout</a:t>
            </a:r>
            <a:endParaRPr lang="en-US" sz="1000" dirty="0"/>
          </a:p>
        </p:txBody>
      </p:sp>
      <p:pic>
        <p:nvPicPr>
          <p:cNvPr id="8" name="Image 1" descr="preencoded.png"/>
          <p:cNvPicPr>
            <a:picLocks noChangeAspect="1"/>
          </p:cNvPicPr>
          <p:nvPr/>
        </p:nvPicPr>
        <p:blipFill>
          <a:blip r:embed="rId4"/>
          <a:stretch>
            <a:fillRect/>
          </a:stretch>
        </p:blipFill>
        <p:spPr>
          <a:xfrm>
            <a:off x="1416078" y="4388712"/>
            <a:ext cx="266687" cy="266693"/>
          </a:xfrm>
          <a:prstGeom prst="rect">
            <a:avLst/>
          </a:prstGeom>
        </p:spPr>
      </p:pic>
      <p:sp>
        <p:nvSpPr>
          <p:cNvPr id="9" name="Text 5"/>
          <p:cNvSpPr/>
          <p:nvPr/>
        </p:nvSpPr>
        <p:spPr>
          <a:xfrm>
            <a:off x="2597185" y="5103796"/>
            <a:ext cx="1066614" cy="187056"/>
          </a:xfrm>
          <a:prstGeom prst="rect">
            <a:avLst/>
          </a:prstGeom>
          <a:noFill/>
          <a:ln/>
        </p:spPr>
        <p:txBody>
          <a:bodyPr wrap="none" lIns="0" tIns="0" rIns="0" bIns="0" rtlCol="0" anchor="t"/>
          <a:lstStyle/>
          <a:p>
            <a:pPr marL="0" indent="0" algn="ctr">
              <a:lnSpc>
                <a:spcPct val="108000"/>
              </a:lnSpc>
              <a:buNone/>
            </a:pPr>
            <a:r>
              <a:rPr lang="en-US" sz="1150" b="1" kern="100" spc="-17" dirty="0">
                <a:solidFill>
                  <a:srgbClr val="101A3A"/>
                </a:solidFill>
                <a:latin typeface="Parkinsans Bold" pitchFamily="34" charset="0"/>
                <a:ea typeface="Parkinsans Bold" pitchFamily="34" charset="-122"/>
                <a:cs typeface="Parkinsans Bold" pitchFamily="34" charset="-120"/>
              </a:rPr>
              <a:t>Indexes</a:t>
            </a:r>
            <a:endParaRPr lang="en-US" sz="1150" dirty="0"/>
          </a:p>
        </p:txBody>
      </p:sp>
      <p:sp>
        <p:nvSpPr>
          <p:cNvPr id="10" name="Text 6"/>
          <p:cNvSpPr/>
          <p:nvPr/>
        </p:nvSpPr>
        <p:spPr>
          <a:xfrm>
            <a:off x="2597185" y="5367315"/>
            <a:ext cx="1066614" cy="357046"/>
          </a:xfrm>
          <a:prstGeom prst="rect">
            <a:avLst/>
          </a:prstGeom>
          <a:noFill/>
          <a:ln/>
        </p:spPr>
        <p:txBody>
          <a:bodyPr wrap="square" lIns="0" tIns="0" rIns="0" bIns="0" rtlCol="0" anchor="t">
            <a:normAutofit/>
          </a:bodyPr>
          <a:lstStyle/>
          <a:p>
            <a:pPr marL="0" indent="0" algn="ctr">
              <a:lnSpc>
                <a:spcPct val="117000"/>
              </a:lnSpc>
              <a:buNone/>
            </a:pPr>
            <a:r>
              <a:rPr lang="en-US" sz="1000" dirty="0">
                <a:solidFill>
                  <a:srgbClr val="101A3A"/>
                </a:solidFill>
                <a:latin typeface="Reddit Sans" pitchFamily="34" charset="0"/>
                <a:ea typeface="Reddit Sans" pitchFamily="34" charset="-122"/>
                <a:cs typeface="Reddit Sans" pitchFamily="34" charset="-120"/>
              </a:rPr>
              <a:t>Speeds data lookup</a:t>
            </a:r>
            <a:endParaRPr lang="en-US" sz="1000" dirty="0"/>
          </a:p>
        </p:txBody>
      </p:sp>
      <p:pic>
        <p:nvPicPr>
          <p:cNvPr id="11" name="Image 2" descr="preencoded.png"/>
          <p:cNvPicPr>
            <a:picLocks noChangeAspect="1"/>
          </p:cNvPicPr>
          <p:nvPr/>
        </p:nvPicPr>
        <p:blipFill>
          <a:blip r:embed="rId5"/>
          <a:stretch>
            <a:fillRect/>
          </a:stretch>
        </p:blipFill>
        <p:spPr>
          <a:xfrm>
            <a:off x="2997149" y="4585557"/>
            <a:ext cx="266687" cy="266693"/>
          </a:xfrm>
          <a:prstGeom prst="rect">
            <a:avLst/>
          </a:prstGeom>
        </p:spPr>
      </p:pic>
      <p:sp>
        <p:nvSpPr>
          <p:cNvPr id="12" name="Text 7"/>
          <p:cNvSpPr/>
          <p:nvPr/>
        </p:nvSpPr>
        <p:spPr>
          <a:xfrm>
            <a:off x="4190955" y="4997569"/>
            <a:ext cx="1066614" cy="374111"/>
          </a:xfrm>
          <a:prstGeom prst="rect">
            <a:avLst/>
          </a:prstGeom>
          <a:noFill/>
          <a:ln/>
        </p:spPr>
        <p:txBody>
          <a:bodyPr wrap="square" lIns="0" tIns="0" rIns="0" bIns="0" rtlCol="0" anchor="t">
            <a:normAutofit/>
          </a:bodyPr>
          <a:lstStyle/>
          <a:p>
            <a:pPr marL="0" indent="0" algn="ctr">
              <a:lnSpc>
                <a:spcPct val="108000"/>
              </a:lnSpc>
              <a:buNone/>
            </a:pPr>
            <a:r>
              <a:rPr lang="en-US" sz="1150" b="1" kern="100" spc="-17" dirty="0">
                <a:solidFill>
                  <a:srgbClr val="101A3A"/>
                </a:solidFill>
                <a:latin typeface="Parkinsans Bold" pitchFamily="34" charset="0"/>
                <a:ea typeface="Parkinsans Bold" pitchFamily="34" charset="-122"/>
                <a:cs typeface="Parkinsans Bold" pitchFamily="34" charset="-120"/>
              </a:rPr>
              <a:t>Buffer Manager</a:t>
            </a:r>
            <a:endParaRPr lang="en-US" sz="1150" dirty="0"/>
          </a:p>
        </p:txBody>
      </p:sp>
      <p:sp>
        <p:nvSpPr>
          <p:cNvPr id="13" name="Text 8"/>
          <p:cNvSpPr/>
          <p:nvPr/>
        </p:nvSpPr>
        <p:spPr>
          <a:xfrm>
            <a:off x="4190955" y="5448143"/>
            <a:ext cx="1066614" cy="357046"/>
          </a:xfrm>
          <a:prstGeom prst="rect">
            <a:avLst/>
          </a:prstGeom>
          <a:noFill/>
          <a:ln/>
        </p:spPr>
        <p:txBody>
          <a:bodyPr wrap="square" lIns="0" tIns="0" rIns="0" bIns="0" rtlCol="0" anchor="t">
            <a:normAutofit/>
          </a:bodyPr>
          <a:lstStyle/>
          <a:p>
            <a:pPr marL="0" indent="0" algn="ctr">
              <a:lnSpc>
                <a:spcPct val="117000"/>
              </a:lnSpc>
              <a:buNone/>
            </a:pPr>
            <a:r>
              <a:rPr lang="en-US" sz="1000" dirty="0">
                <a:solidFill>
                  <a:srgbClr val="101A3A"/>
                </a:solidFill>
                <a:latin typeface="Reddit Sans" pitchFamily="34" charset="0"/>
                <a:ea typeface="Reddit Sans" pitchFamily="34" charset="-122"/>
                <a:cs typeface="Reddit Sans" pitchFamily="34" charset="-120"/>
              </a:rPr>
              <a:t>Manages in-memory pages</a:t>
            </a:r>
            <a:endParaRPr lang="en-US" sz="1000" dirty="0"/>
          </a:p>
        </p:txBody>
      </p:sp>
      <p:pic>
        <p:nvPicPr>
          <p:cNvPr id="14" name="Image 3" descr="preencoded.png"/>
          <p:cNvPicPr>
            <a:picLocks noChangeAspect="1"/>
          </p:cNvPicPr>
          <p:nvPr/>
        </p:nvPicPr>
        <p:blipFill>
          <a:blip r:embed="rId6"/>
          <a:stretch>
            <a:fillRect/>
          </a:stretch>
        </p:blipFill>
        <p:spPr>
          <a:xfrm>
            <a:off x="4578219" y="4572857"/>
            <a:ext cx="266686" cy="266693"/>
          </a:xfrm>
          <a:prstGeom prst="rect">
            <a:avLst/>
          </a:prstGeom>
        </p:spPr>
      </p:pic>
      <p:sp>
        <p:nvSpPr>
          <p:cNvPr id="15" name="Text 9"/>
          <p:cNvSpPr/>
          <p:nvPr/>
        </p:nvSpPr>
        <p:spPr>
          <a:xfrm>
            <a:off x="5759326" y="4807074"/>
            <a:ext cx="1066614" cy="374111"/>
          </a:xfrm>
          <a:prstGeom prst="rect">
            <a:avLst/>
          </a:prstGeom>
          <a:noFill/>
          <a:ln/>
        </p:spPr>
        <p:txBody>
          <a:bodyPr wrap="square" lIns="0" tIns="0" rIns="0" bIns="0" rtlCol="0" anchor="t">
            <a:normAutofit/>
          </a:bodyPr>
          <a:lstStyle/>
          <a:p>
            <a:pPr marL="0" indent="0" algn="ctr">
              <a:lnSpc>
                <a:spcPct val="108000"/>
              </a:lnSpc>
              <a:buNone/>
            </a:pPr>
            <a:r>
              <a:rPr lang="en-US" sz="1150" b="1" kern="100" spc="-17" dirty="0">
                <a:solidFill>
                  <a:srgbClr val="101A3A"/>
                </a:solidFill>
                <a:latin typeface="Parkinsans Bold" pitchFamily="34" charset="0"/>
                <a:ea typeface="Parkinsans Bold" pitchFamily="34" charset="-122"/>
                <a:cs typeface="Parkinsans Bold" pitchFamily="34" charset="-120"/>
              </a:rPr>
              <a:t>Transactions &amp; Recovery</a:t>
            </a:r>
            <a:endParaRPr lang="en-US" sz="1150" dirty="0"/>
          </a:p>
        </p:txBody>
      </p:sp>
      <p:sp>
        <p:nvSpPr>
          <p:cNvPr id="16" name="Text 10"/>
          <p:cNvSpPr/>
          <p:nvPr/>
        </p:nvSpPr>
        <p:spPr>
          <a:xfrm>
            <a:off x="5759326" y="5257648"/>
            <a:ext cx="1066614" cy="357046"/>
          </a:xfrm>
          <a:prstGeom prst="rect">
            <a:avLst/>
          </a:prstGeom>
          <a:noFill/>
          <a:ln/>
        </p:spPr>
        <p:txBody>
          <a:bodyPr wrap="square" lIns="0" tIns="0" rIns="0" bIns="0" rtlCol="0" anchor="t">
            <a:normAutofit/>
          </a:bodyPr>
          <a:lstStyle/>
          <a:p>
            <a:pPr marL="0" indent="0" algn="ctr">
              <a:lnSpc>
                <a:spcPct val="117000"/>
              </a:lnSpc>
              <a:buNone/>
            </a:pPr>
            <a:r>
              <a:rPr lang="en-US" sz="1000" dirty="0">
                <a:solidFill>
                  <a:srgbClr val="101A3A"/>
                </a:solidFill>
                <a:latin typeface="Reddit Sans" pitchFamily="34" charset="0"/>
                <a:ea typeface="Reddit Sans" pitchFamily="34" charset="-122"/>
                <a:cs typeface="Reddit Sans" pitchFamily="34" charset="-120"/>
              </a:rPr>
              <a:t>Ensures atomicity and durability</a:t>
            </a:r>
            <a:endParaRPr lang="en-US" sz="1000" dirty="0"/>
          </a:p>
        </p:txBody>
      </p:sp>
      <p:pic>
        <p:nvPicPr>
          <p:cNvPr id="17" name="Image 4" descr="preencoded.png"/>
          <p:cNvPicPr>
            <a:picLocks noChangeAspect="1"/>
          </p:cNvPicPr>
          <p:nvPr/>
        </p:nvPicPr>
        <p:blipFill>
          <a:blip r:embed="rId7"/>
          <a:stretch>
            <a:fillRect/>
          </a:stretch>
        </p:blipFill>
        <p:spPr>
          <a:xfrm>
            <a:off x="6165639" y="4395062"/>
            <a:ext cx="266686" cy="266693"/>
          </a:xfrm>
          <a:prstGeom prst="rect">
            <a:avLst/>
          </a:prstGeom>
        </p:spPr>
      </p:pic>
      <p:pic>
        <p:nvPicPr>
          <p:cNvPr id="18" name="Image 5" descr="preencoded.png"/>
          <p:cNvPicPr>
            <a:picLocks noChangeAspect="1"/>
          </p:cNvPicPr>
          <p:nvPr/>
        </p:nvPicPr>
        <p:blipFill>
          <a:blip r:embed="rId8"/>
          <a:stretch>
            <a:fillRect/>
          </a:stretch>
        </p:blipFill>
        <p:spPr>
          <a:xfrm>
            <a:off x="7721407" y="1714500"/>
            <a:ext cx="3428914" cy="3429000"/>
          </a:xfrm>
          <a:prstGeom prst="rect">
            <a:avLst/>
          </a:prstGeom>
        </p:spPr>
      </p:pic>
      <p:pic>
        <p:nvPicPr>
          <p:cNvPr id="20" name="Picture 19">
            <a:extLst>
              <a:ext uri="{FF2B5EF4-FFF2-40B4-BE49-F238E27FC236}">
                <a16:creationId xmlns:a16="http://schemas.microsoft.com/office/drawing/2014/main" id="{3C324D18-563D-2A6D-CB1C-B1C525CFF2FB}"/>
              </a:ext>
            </a:extLst>
          </p:cNvPr>
          <p:cNvPicPr>
            <a:picLocks noChangeAspect="1"/>
          </p:cNvPicPr>
          <p:nvPr/>
        </p:nvPicPr>
        <p:blipFill>
          <a:blip r:embed="rId9"/>
          <a:stretch>
            <a:fillRect/>
          </a:stretch>
        </p:blipFill>
        <p:spPr>
          <a:xfrm>
            <a:off x="10718724" y="6473817"/>
            <a:ext cx="1473276" cy="31116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40080"/>
            <a:ext cx="10972526" cy="822920"/>
          </a:xfrm>
          <a:prstGeom prst="rect">
            <a:avLst/>
          </a:prstGeom>
          <a:noFill/>
          <a:ln/>
        </p:spPr>
        <p:txBody>
          <a:bodyPr wrap="square" lIns="0" tIns="0" rIns="0" bIns="0" rtlCol="0" anchor="t">
            <a:normAutofit/>
          </a:bodyPr>
          <a:lstStyle/>
          <a:p>
            <a:pPr marL="0" indent="0" algn="l">
              <a:lnSpc>
                <a:spcPct val="90000"/>
              </a:lnSpc>
              <a:buNone/>
            </a:pPr>
            <a:r>
              <a:rPr lang="en-US" sz="3000" b="1" kern="100" spc="-45" dirty="0">
                <a:solidFill>
                  <a:srgbClr val="101A3A"/>
                </a:solidFill>
                <a:latin typeface="Parkinsans Bold" pitchFamily="34" charset="0"/>
                <a:ea typeface="Parkinsans Bold" pitchFamily="34" charset="-122"/>
                <a:cs typeface="Parkinsans Bold" pitchFamily="34" charset="-120"/>
              </a:rPr>
              <a:t>One architecture connects abstraction, performance, and reliability</a:t>
            </a:r>
            <a:endParaRPr lang="en-US" sz="3000" dirty="0"/>
          </a:p>
        </p:txBody>
      </p:sp>
      <p:sp>
        <p:nvSpPr>
          <p:cNvPr id="3" name="Text 1"/>
          <p:cNvSpPr/>
          <p:nvPr/>
        </p:nvSpPr>
        <p:spPr>
          <a:xfrm>
            <a:off x="609585" y="1640800"/>
            <a:ext cx="11582110" cy="284460"/>
          </a:xfrm>
          <a:prstGeom prst="rect">
            <a:avLst/>
          </a:prstGeom>
          <a:noFill/>
          <a:ln/>
        </p:spPr>
        <p:txBody>
          <a:bodyPr wrap="none" lIns="0" tIns="0" rIns="0" bIns="0" rtlCol="0" anchor="t"/>
          <a:lstStyle/>
          <a:p>
            <a:pPr marL="0" indent="0" algn="l">
              <a:lnSpc>
                <a:spcPct val="117000"/>
              </a:lnSpc>
              <a:buNone/>
            </a:pPr>
            <a:r>
              <a:rPr lang="en-US" sz="1600" dirty="0">
                <a:solidFill>
                  <a:srgbClr val="101A3A"/>
                </a:solidFill>
                <a:latin typeface="Reddit Sans" pitchFamily="34" charset="0"/>
                <a:ea typeface="Reddit Sans" pitchFamily="34" charset="-122"/>
                <a:cs typeface="Reddit Sans" pitchFamily="34" charset="-120"/>
              </a:rPr>
              <a:t>A DBMS hides unnecessary detail while making execution dependable.</a:t>
            </a:r>
            <a:endParaRPr lang="en-US" sz="1600" dirty="0"/>
          </a:p>
        </p:txBody>
      </p:sp>
      <p:sp>
        <p:nvSpPr>
          <p:cNvPr id="4" name="Shape 2"/>
          <p:cNvSpPr/>
          <p:nvPr/>
        </p:nvSpPr>
        <p:spPr>
          <a:xfrm>
            <a:off x="609585" y="2104330"/>
            <a:ext cx="3454314" cy="101600"/>
          </a:xfrm>
          <a:prstGeom prst="rect">
            <a:avLst/>
          </a:prstGeom>
          <a:solidFill>
            <a:srgbClr val="1F4FE0"/>
          </a:solidFill>
          <a:ln/>
        </p:spPr>
      </p:sp>
      <p:sp>
        <p:nvSpPr>
          <p:cNvPr id="5" name="Shape 3"/>
          <p:cNvSpPr/>
          <p:nvPr/>
        </p:nvSpPr>
        <p:spPr>
          <a:xfrm>
            <a:off x="838179" y="2434530"/>
            <a:ext cx="1311937" cy="254000"/>
          </a:xfrm>
          <a:prstGeom prst="roundRect">
            <a:avLst>
              <a:gd name="adj" fmla="val 49999"/>
            </a:avLst>
          </a:prstGeom>
          <a:solidFill>
            <a:srgbClr val="D2DCF9"/>
          </a:solidFill>
          <a:ln/>
        </p:spPr>
      </p:sp>
      <p:sp>
        <p:nvSpPr>
          <p:cNvPr id="6" name="Text 4"/>
          <p:cNvSpPr/>
          <p:nvPr/>
        </p:nvSpPr>
        <p:spPr>
          <a:xfrm>
            <a:off x="965176" y="2494856"/>
            <a:ext cx="1667528" cy="165100"/>
          </a:xfrm>
          <a:prstGeom prst="rect">
            <a:avLst/>
          </a:prstGeom>
          <a:noFill/>
          <a:ln/>
        </p:spPr>
        <p:txBody>
          <a:bodyPr wrap="none" lIns="0" tIns="0" rIns="0" bIns="0" rtlCol="0" anchor="t"/>
          <a:lstStyle/>
          <a:p>
            <a:pPr marL="0" indent="0" algn="l">
              <a:lnSpc>
                <a:spcPct val="83000"/>
              </a:lnSpc>
              <a:buNone/>
            </a:pPr>
            <a:r>
              <a:rPr lang="en-US" sz="1300" kern="100" spc="26" dirty="0">
                <a:solidFill>
                  <a:srgbClr val="101A3A"/>
                </a:solidFill>
                <a:latin typeface="Reddit Mono Medium" pitchFamily="34" charset="0"/>
                <a:ea typeface="Reddit Mono Medium" pitchFamily="34" charset="-122"/>
                <a:cs typeface="Reddit Mono Medium" pitchFamily="34" charset="-120"/>
              </a:rPr>
              <a:t>ABSTRACTION</a:t>
            </a:r>
            <a:endParaRPr lang="en-US" sz="1300" dirty="0"/>
          </a:p>
        </p:txBody>
      </p:sp>
      <p:sp>
        <p:nvSpPr>
          <p:cNvPr id="7" name="Text 5"/>
          <p:cNvSpPr/>
          <p:nvPr/>
        </p:nvSpPr>
        <p:spPr>
          <a:xfrm>
            <a:off x="838179" y="2783146"/>
            <a:ext cx="2997125" cy="313630"/>
          </a:xfrm>
          <a:prstGeom prst="rect">
            <a:avLst/>
          </a:prstGeom>
          <a:noFill/>
          <a:ln/>
        </p:spPr>
        <p:txBody>
          <a:bodyPr wrap="none" lIns="0" tIns="0" rIns="0" bIns="0" rtlCol="0" anchor="t"/>
          <a:lstStyle/>
          <a:p>
            <a:pPr marL="0" indent="0" algn="l">
              <a:lnSpc>
                <a:spcPct val="108000"/>
              </a:lnSpc>
              <a:buNone/>
            </a:pPr>
            <a:r>
              <a:rPr lang="en-US" sz="1900" dirty="0">
                <a:solidFill>
                  <a:srgbClr val="101A3A"/>
                </a:solidFill>
                <a:latin typeface="Reddit Sans Medium" pitchFamily="34" charset="0"/>
                <a:ea typeface="Reddit Sans Medium" pitchFamily="34" charset="-122"/>
                <a:cs typeface="Reddit Sans Medium" pitchFamily="34" charset="-120"/>
              </a:rPr>
              <a:t>Three schemas</a:t>
            </a:r>
            <a:endParaRPr lang="en-US" sz="1900" dirty="0"/>
          </a:p>
        </p:txBody>
      </p:sp>
      <p:sp>
        <p:nvSpPr>
          <p:cNvPr id="8" name="Text 6"/>
          <p:cNvSpPr/>
          <p:nvPr/>
        </p:nvSpPr>
        <p:spPr>
          <a:xfrm>
            <a:off x="838179" y="3235841"/>
            <a:ext cx="2997125"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01A3A"/>
                </a:solidFill>
                <a:latin typeface="Reddit Sans" pitchFamily="34" charset="0"/>
                <a:ea typeface="Reddit Sans" pitchFamily="34" charset="-122"/>
                <a:cs typeface="Reddit Sans" pitchFamily="34" charset="-120"/>
              </a:rPr>
              <a:t>Users and applications work with views instead of storage details.</a:t>
            </a:r>
            <a:endParaRPr lang="en-US" sz="1600" dirty="0"/>
          </a:p>
        </p:txBody>
      </p:sp>
      <p:sp>
        <p:nvSpPr>
          <p:cNvPr id="9" name="Shape 7"/>
          <p:cNvSpPr/>
          <p:nvPr/>
        </p:nvSpPr>
        <p:spPr>
          <a:xfrm>
            <a:off x="4368691" y="2104330"/>
            <a:ext cx="3454314" cy="101600"/>
          </a:xfrm>
          <a:prstGeom prst="rect">
            <a:avLst/>
          </a:prstGeom>
          <a:solidFill>
            <a:srgbClr val="FF8420"/>
          </a:solidFill>
          <a:ln/>
        </p:spPr>
      </p:sp>
      <p:sp>
        <p:nvSpPr>
          <p:cNvPr id="10" name="Shape 8"/>
          <p:cNvSpPr/>
          <p:nvPr/>
        </p:nvSpPr>
        <p:spPr>
          <a:xfrm>
            <a:off x="4597285" y="2434530"/>
            <a:ext cx="1311937" cy="254000"/>
          </a:xfrm>
          <a:prstGeom prst="roundRect">
            <a:avLst>
              <a:gd name="adj" fmla="val 49999"/>
            </a:avLst>
          </a:prstGeom>
          <a:solidFill>
            <a:srgbClr val="D2DCF9"/>
          </a:solidFill>
          <a:ln/>
        </p:spPr>
      </p:sp>
      <p:sp>
        <p:nvSpPr>
          <p:cNvPr id="11" name="Text 9"/>
          <p:cNvSpPr/>
          <p:nvPr/>
        </p:nvSpPr>
        <p:spPr>
          <a:xfrm>
            <a:off x="4724282" y="2494856"/>
            <a:ext cx="1667528" cy="165100"/>
          </a:xfrm>
          <a:prstGeom prst="rect">
            <a:avLst/>
          </a:prstGeom>
          <a:noFill/>
          <a:ln/>
        </p:spPr>
        <p:txBody>
          <a:bodyPr wrap="none" lIns="0" tIns="0" rIns="0" bIns="0" rtlCol="0" anchor="t"/>
          <a:lstStyle/>
          <a:p>
            <a:pPr marL="0" indent="0" algn="l">
              <a:lnSpc>
                <a:spcPct val="83000"/>
              </a:lnSpc>
              <a:buNone/>
            </a:pPr>
            <a:r>
              <a:rPr lang="en-US" sz="1300" kern="100" spc="26" dirty="0">
                <a:solidFill>
                  <a:srgbClr val="101A3A"/>
                </a:solidFill>
                <a:latin typeface="Reddit Mono Medium" pitchFamily="34" charset="0"/>
                <a:ea typeface="Reddit Mono Medium" pitchFamily="34" charset="-122"/>
                <a:cs typeface="Reddit Mono Medium" pitchFamily="34" charset="-120"/>
              </a:rPr>
              <a:t>PERFORMANCE</a:t>
            </a:r>
            <a:endParaRPr lang="en-US" sz="1300" dirty="0"/>
          </a:p>
        </p:txBody>
      </p:sp>
      <p:sp>
        <p:nvSpPr>
          <p:cNvPr id="12" name="Text 10"/>
          <p:cNvSpPr/>
          <p:nvPr/>
        </p:nvSpPr>
        <p:spPr>
          <a:xfrm>
            <a:off x="4597285" y="2783146"/>
            <a:ext cx="2997125" cy="313630"/>
          </a:xfrm>
          <a:prstGeom prst="rect">
            <a:avLst/>
          </a:prstGeom>
          <a:noFill/>
          <a:ln/>
        </p:spPr>
        <p:txBody>
          <a:bodyPr wrap="none" lIns="0" tIns="0" rIns="0" bIns="0" rtlCol="0" anchor="t"/>
          <a:lstStyle/>
          <a:p>
            <a:pPr marL="0" indent="0" algn="l">
              <a:lnSpc>
                <a:spcPct val="108000"/>
              </a:lnSpc>
              <a:buNone/>
            </a:pPr>
            <a:r>
              <a:rPr lang="en-US" sz="1900" dirty="0">
                <a:solidFill>
                  <a:srgbClr val="101A3A"/>
                </a:solidFill>
                <a:latin typeface="Reddit Sans Medium" pitchFamily="34" charset="0"/>
                <a:ea typeface="Reddit Sans Medium" pitchFamily="34" charset="-122"/>
                <a:cs typeface="Reddit Sans Medium" pitchFamily="34" charset="-120"/>
              </a:rPr>
              <a:t>Query processing</a:t>
            </a:r>
            <a:endParaRPr lang="en-US" sz="1900" dirty="0"/>
          </a:p>
        </p:txBody>
      </p:sp>
      <p:sp>
        <p:nvSpPr>
          <p:cNvPr id="13" name="Text 11"/>
          <p:cNvSpPr/>
          <p:nvPr/>
        </p:nvSpPr>
        <p:spPr>
          <a:xfrm>
            <a:off x="4597285" y="3235841"/>
            <a:ext cx="2997125"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01A3A"/>
                </a:solidFill>
                <a:latin typeface="Reddit Sans" pitchFamily="34" charset="0"/>
                <a:ea typeface="Reddit Sans" pitchFamily="34" charset="-122"/>
                <a:cs typeface="Reddit Sans" pitchFamily="34" charset="-120"/>
              </a:rPr>
              <a:t>Requests become plans chosen for efficient execution.</a:t>
            </a:r>
            <a:endParaRPr lang="en-US" sz="1600" dirty="0"/>
          </a:p>
        </p:txBody>
      </p:sp>
      <p:sp>
        <p:nvSpPr>
          <p:cNvPr id="14" name="Shape 12"/>
          <p:cNvSpPr/>
          <p:nvPr/>
        </p:nvSpPr>
        <p:spPr>
          <a:xfrm>
            <a:off x="8127797" y="2104330"/>
            <a:ext cx="3454314" cy="101600"/>
          </a:xfrm>
          <a:prstGeom prst="rect">
            <a:avLst/>
          </a:prstGeom>
          <a:solidFill>
            <a:srgbClr val="12813B"/>
          </a:solidFill>
          <a:ln/>
        </p:spPr>
      </p:sp>
      <p:sp>
        <p:nvSpPr>
          <p:cNvPr id="15" name="Shape 13"/>
          <p:cNvSpPr/>
          <p:nvPr/>
        </p:nvSpPr>
        <p:spPr>
          <a:xfrm>
            <a:off x="8356391" y="2434530"/>
            <a:ext cx="1311937" cy="254000"/>
          </a:xfrm>
          <a:prstGeom prst="roundRect">
            <a:avLst>
              <a:gd name="adj" fmla="val 49999"/>
            </a:avLst>
          </a:prstGeom>
          <a:solidFill>
            <a:srgbClr val="D2DCF9"/>
          </a:solidFill>
          <a:ln/>
        </p:spPr>
      </p:sp>
      <p:sp>
        <p:nvSpPr>
          <p:cNvPr id="16" name="Text 14"/>
          <p:cNvSpPr/>
          <p:nvPr/>
        </p:nvSpPr>
        <p:spPr>
          <a:xfrm>
            <a:off x="8483388" y="2494856"/>
            <a:ext cx="1667528" cy="165100"/>
          </a:xfrm>
          <a:prstGeom prst="rect">
            <a:avLst/>
          </a:prstGeom>
          <a:noFill/>
          <a:ln/>
        </p:spPr>
        <p:txBody>
          <a:bodyPr wrap="none" lIns="0" tIns="0" rIns="0" bIns="0" rtlCol="0" anchor="t"/>
          <a:lstStyle/>
          <a:p>
            <a:pPr marL="0" indent="0" algn="l">
              <a:lnSpc>
                <a:spcPct val="83000"/>
              </a:lnSpc>
              <a:buNone/>
            </a:pPr>
            <a:r>
              <a:rPr lang="en-US" sz="1300" kern="100" spc="26" dirty="0">
                <a:solidFill>
                  <a:srgbClr val="101A3A"/>
                </a:solidFill>
                <a:latin typeface="Reddit Mono Medium" pitchFamily="34" charset="0"/>
                <a:ea typeface="Reddit Mono Medium" pitchFamily="34" charset="-122"/>
                <a:cs typeface="Reddit Mono Medium" pitchFamily="34" charset="-120"/>
              </a:rPr>
              <a:t>RELIABILITY</a:t>
            </a:r>
            <a:endParaRPr lang="en-US" sz="1300" dirty="0"/>
          </a:p>
        </p:txBody>
      </p:sp>
      <p:sp>
        <p:nvSpPr>
          <p:cNvPr id="17" name="Text 15"/>
          <p:cNvSpPr/>
          <p:nvPr/>
        </p:nvSpPr>
        <p:spPr>
          <a:xfrm>
            <a:off x="8356391" y="2783146"/>
            <a:ext cx="2997125" cy="313630"/>
          </a:xfrm>
          <a:prstGeom prst="rect">
            <a:avLst/>
          </a:prstGeom>
          <a:noFill/>
          <a:ln/>
        </p:spPr>
        <p:txBody>
          <a:bodyPr wrap="none" lIns="0" tIns="0" rIns="0" bIns="0" rtlCol="0" anchor="t"/>
          <a:lstStyle/>
          <a:p>
            <a:pPr marL="0" indent="0" algn="l">
              <a:lnSpc>
                <a:spcPct val="108000"/>
              </a:lnSpc>
              <a:buNone/>
            </a:pPr>
            <a:r>
              <a:rPr lang="en-US" sz="1900" dirty="0">
                <a:solidFill>
                  <a:srgbClr val="101A3A"/>
                </a:solidFill>
                <a:latin typeface="Reddit Sans Medium" pitchFamily="34" charset="0"/>
                <a:ea typeface="Reddit Sans Medium" pitchFamily="34" charset="-122"/>
                <a:cs typeface="Reddit Sans Medium" pitchFamily="34" charset="-120"/>
              </a:rPr>
              <a:t>Storage services</a:t>
            </a:r>
            <a:endParaRPr lang="en-US" sz="1900" dirty="0"/>
          </a:p>
        </p:txBody>
      </p:sp>
      <p:sp>
        <p:nvSpPr>
          <p:cNvPr id="18" name="Text 16"/>
          <p:cNvSpPr/>
          <p:nvPr/>
        </p:nvSpPr>
        <p:spPr>
          <a:xfrm>
            <a:off x="8356391" y="3235841"/>
            <a:ext cx="2997125" cy="85338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01A3A"/>
                </a:solidFill>
                <a:latin typeface="Reddit Sans" pitchFamily="34" charset="0"/>
                <a:ea typeface="Reddit Sans" pitchFamily="34" charset="-122"/>
                <a:cs typeface="Reddit Sans" pitchFamily="34" charset="-120"/>
              </a:rPr>
              <a:t>Transactions, recovery, and authorization make shared work safe.</a:t>
            </a:r>
            <a:endParaRPr lang="en-US" sz="1600" dirty="0"/>
          </a:p>
        </p:txBody>
      </p:sp>
      <p:sp>
        <p:nvSpPr>
          <p:cNvPr id="19" name="Shape 17"/>
          <p:cNvSpPr/>
          <p:nvPr/>
        </p:nvSpPr>
        <p:spPr>
          <a:xfrm>
            <a:off x="609585" y="5453459"/>
            <a:ext cx="101598" cy="794941"/>
          </a:xfrm>
          <a:prstGeom prst="rect">
            <a:avLst/>
          </a:prstGeom>
          <a:solidFill>
            <a:srgbClr val="D6126F"/>
          </a:solidFill>
          <a:ln/>
        </p:spPr>
      </p:sp>
      <p:sp>
        <p:nvSpPr>
          <p:cNvPr id="20" name="Text 18"/>
          <p:cNvSpPr/>
          <p:nvPr/>
        </p:nvSpPr>
        <p:spPr>
          <a:xfrm>
            <a:off x="939776" y="5688092"/>
            <a:ext cx="10642334" cy="337741"/>
          </a:xfrm>
          <a:prstGeom prst="rect">
            <a:avLst/>
          </a:prstGeom>
          <a:noFill/>
          <a:ln/>
        </p:spPr>
        <p:txBody>
          <a:bodyPr wrap="none" lIns="0" tIns="0" rIns="0" bIns="0" rtlCol="0" anchor="t"/>
          <a:lstStyle/>
          <a:p>
            <a:pPr marL="0" indent="0" algn="l">
              <a:lnSpc>
                <a:spcPct val="117000"/>
              </a:lnSpc>
              <a:buNone/>
            </a:pPr>
            <a:r>
              <a:rPr lang="en-US" sz="1900" b="1" dirty="0">
                <a:solidFill>
                  <a:srgbClr val="101A3A"/>
                </a:solidFill>
                <a:latin typeface="Reddit Sans Bold" pitchFamily="34" charset="0"/>
                <a:ea typeface="Reddit Sans Bold" pitchFamily="34" charset="-122"/>
                <a:cs typeface="Reddit Sans Bold" pitchFamily="34" charset="-120"/>
              </a:rPr>
              <a:t>Key takeaway:</a:t>
            </a:r>
            <a:r>
              <a:rPr lang="en-US" sz="1900" dirty="0">
                <a:solidFill>
                  <a:srgbClr val="101A3A"/>
                </a:solidFill>
                <a:latin typeface="Reddit Sans" pitchFamily="34" charset="0"/>
                <a:ea typeface="Reddit Sans" pitchFamily="34" charset="-122"/>
                <a:cs typeface="Reddit Sans" pitchFamily="34" charset="-120"/>
              </a:rPr>
              <a:t> a DBMS is both an abstraction layer and a systems engine.</a:t>
            </a:r>
            <a:endParaRPr lang="en-US" sz="1900" dirty="0"/>
          </a:p>
        </p:txBody>
      </p:sp>
      <p:pic>
        <p:nvPicPr>
          <p:cNvPr id="22" name="Picture 21">
            <a:extLst>
              <a:ext uri="{FF2B5EF4-FFF2-40B4-BE49-F238E27FC236}">
                <a16:creationId xmlns:a16="http://schemas.microsoft.com/office/drawing/2014/main" id="{EBC3D2C5-CAD6-C7AE-5433-EFE5968600CB}"/>
              </a:ext>
            </a:extLst>
          </p:cNvPr>
          <p:cNvPicPr>
            <a:picLocks noChangeAspect="1"/>
          </p:cNvPicPr>
          <p:nvPr/>
        </p:nvPicPr>
        <p:blipFill>
          <a:blip r:embed="rId3"/>
          <a:stretch>
            <a:fillRect/>
          </a:stretch>
        </p:blipFill>
        <p:spPr>
          <a:xfrm>
            <a:off x="10718724" y="6473817"/>
            <a:ext cx="1473276" cy="31116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811</Words>
  <Application>Microsoft Office PowerPoint</Application>
  <PresentationFormat>Widescreen</PresentationFormat>
  <Paragraphs>94</Paragraphs>
  <Slides>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Reddit Sans Bold</vt:lpstr>
      <vt:lpstr>Reddit Sans</vt:lpstr>
      <vt:lpstr>Reddit Sans Medium</vt:lpstr>
      <vt:lpstr>Reddit Mono Medium</vt:lpstr>
      <vt:lpstr>Parkinsans Bold</vt:lpstr>
      <vt:lpstr>Reddit Sans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sivah252008@outlook.com</cp:lastModifiedBy>
  <cp:revision>2</cp:revision>
  <dcterms:created xsi:type="dcterms:W3CDTF">2026-10-16T08:23:08Z</dcterms:created>
  <dcterms:modified xsi:type="dcterms:W3CDTF">2026-10-16T09:23:11Z</dcterms:modified>
</cp:coreProperties>
</file>